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ef0334467748fb" /><Relationship Type="http://schemas.openxmlformats.org/officeDocument/2006/relationships/extended-properties" Target="/docProps/app.xml" Id="Rb71b0145cd964782" /><Relationship Type="http://schemas.openxmlformats.org/officeDocument/2006/relationships/officeDocument" Target="/ppt/presentation.xml" Id="Ra796b3fc15f146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a149a914bb4138"/>
  </p:sldMasterIdLst>
  <p:notesMasterIdLst>
    <p:notesMasterId xmlns:r="http://schemas.openxmlformats.org/officeDocument/2006/relationships" r:id="R3277d3506128419a"/>
  </p:notesMasterIdLst>
  <p:sldIdLst>
    <p:sldId xmlns:r="http://schemas.openxmlformats.org/officeDocument/2006/relationships" id="256" r:id="Rb3ac24bac5de4aeb"/>
    <p:sldId xmlns:r="http://schemas.openxmlformats.org/officeDocument/2006/relationships" id="257" r:id="R098311d2c29546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8c10dbd66b4446" /><Relationship Type="http://schemas.openxmlformats.org/officeDocument/2006/relationships/slideMaster" Target="/ppt/slideMasters/slideMaster1.xml" Id="R4aa149a914bb4138" /><Relationship Type="http://schemas.openxmlformats.org/officeDocument/2006/relationships/notesMaster" Target="/ppt/notesMasters/notesMaster1.xml" Id="R3277d3506128419a" /><Relationship Type="http://schemas.openxmlformats.org/officeDocument/2006/relationships/presProps" Target="/ppt/presProps.xml" Id="R074f160847be4dad" /><Relationship Type="http://schemas.openxmlformats.org/officeDocument/2006/relationships/tableStyles" Target="/ppt/tableStyles.xml" Id="Rf4187e7731564d65" /><Relationship Type="http://schemas.openxmlformats.org/officeDocument/2006/relationships/slide" Target="/ppt/slides/slide1.xml" Id="Rb3ac24bac5de4aeb" /><Relationship Type="http://schemas.openxmlformats.org/officeDocument/2006/relationships/slide" Target="/ppt/slides/slide2.xml" Id="R098311d2c29546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d954b7952c46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a5140cc07e4a6c" /><Relationship Type="http://schemas.openxmlformats.org/officeDocument/2006/relationships/notesMaster" Target="/ppt/notesMasters/notesMaster1.xml" Id="Rec6a1752d42141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690599ddd047b1" /><Relationship Type="http://schemas.openxmlformats.org/officeDocument/2006/relationships/notesMaster" Target="/ppt/notesMasters/notesMaster1.xml" Id="Ra13894c3a6d348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位置來源：techplant data/taiwan_tech_factory.json 的 lat／lng 欄位，更新日期2026-09-07。行政區底圖來源：專案內 data/taiwan_counties.geojson，原始說明指向內政部統計地理資訊應用系統。高雄楠梓與橋頭位置相近，標號以短引線錯開顯示。地圖代表園區／建案定位，不代表地籍界線或廠區範圍。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來源：techplant data/taiwan_tech_factory.json 與 presentation_sources/techplant_major_factories_2026-09-07.md。表格將營運／擴建追蹤與具名新建案分開，未公開坪數不作推估。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872aed0f654c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5eb00564ec419c" /><Relationship Type="http://schemas.openxmlformats.org/officeDocument/2006/relationships/slideLayout" Target="/ppt/slideLayouts/slideLayout1.xml" Id="R5a7df5f2594247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7df5f2594247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1a3282b9c4bb3" /><Relationship Type="http://schemas.openxmlformats.org/officeDocument/2006/relationships/image" Target="/ppt/media/image.png" Id="R108b6c86729242bf" /><Relationship Type="http://schemas.openxmlformats.org/officeDocument/2006/relationships/notesSlide" Target="/ppt/notesSlides/notesSlide1.xml" Id="R4c3cd104b90b49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931e841244131" /><Relationship Type="http://schemas.openxmlformats.org/officeDocument/2006/relationships/notesSlide" Target="/ppt/notesSlides/notesSlide2.xml" Id="Rb4f47fa4f42f42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DB4FA62-97DE-488E-8D5A-4E86FB69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8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84F"/>
                </a:solidFill>
                <a:latin typeface="Microsoft JhengHei"/>
                <a:ea typeface="Microsoft JhengHei"/>
                <a:cs typeface="Microsoft JhengHei"/>
              </a:rPr>
              <a:t>台灣主要科學園區與科技廠房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0EAD5-7086-400F-B51B-1C7902BA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依專案資料中的縣市、行政區與經緯度定位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18DBB-AAE5-41A9-9AB1-110C7E08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1E8"/>
          </a:solidFill>
          <a:ln xmlns:a="http://schemas.openxmlformats.org/drawingml/2006/main" w="0">
            <a:noFill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8b6c86729242bf"/>
          <a:stretch xmlns:a="http://schemas.openxmlformats.org/drawingml/2006/main"/>
        </p:blipFill>
        <p:spPr>
          <a:xfrm xmlns:a="http://schemas.openxmlformats.org/drawingml/2006/main">
            <a:off x="3888252" y="1219200"/>
            <a:ext cx="4415497" cy="4629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97D96-FA80-4CD9-8D79-E6689BD1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04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9FFBA-4475-4EFC-816B-1153652F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28587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北投士林科技園區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1B193-A80F-4393-BADE-F3902403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485900"/>
            <a:ext cx="2686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台北市北投區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14B81-8C79-4277-BEE8-A986FCBA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57350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NVIDIA AI研發中心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141860-6588-4E5A-9595-E0DE772E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57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F5EBF-9C72-457C-82A2-1AF6F089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383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龍潭科學園區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82401-9A47-4921-905A-34CF1460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38375"/>
            <a:ext cx="2686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桃園市龍潭區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573B51-50D5-4847-ACA5-A5A69A86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9825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台積電新廠區，待官方確認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D880A1-76F5-48F3-97DD-AD446722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9B6D8-7AAD-4D81-AD7E-E0BCF31A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9082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竹科寶山二期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299536-70FF-44E3-843A-8C73BB29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2686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新竹縣寶山鄉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814D87-EC1C-4F86-B36A-62788D17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台積電 P8 2奈米廠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CF62F3-D22A-4696-AB13-2AED9502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62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6C3194-60B5-44FF-B224-0B320B8C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4330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銅鑼科學園區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245713-09D9-41DD-A2D6-F79EEB8A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43325"/>
            <a:ext cx="2686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苗栗縣銅鑼鄉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26E7FD-AAE8-4EDC-BBDD-45335F32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14775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美光銅鑼廠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E350D4-80E5-41DD-9470-0CB8B021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14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031E0B-1FD1-401F-8CEE-90EB83D9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9577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中科后里園區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198ED1-66DE-4B0E-9115-B5F2E07D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95800"/>
            <a:ext cx="2686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台中市后里區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340560-46A1-44CC-83E6-4DDA14C0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67250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美光 A3 廠區擴建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561AE8-1F79-4E2F-BE5B-B3EAF5D9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DB0D7B-7077-4DC3-9095-53A36C88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482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中科二期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ABC5D9-EB2F-4302-97E8-4C474839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48275"/>
            <a:ext cx="2686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台中市大雅區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52BE5C-B21C-4417-A66F-05D36516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19725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台積電 1.4奈米廠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DAF909-A024-4265-B6F8-015389A2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04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AB4D24-9574-4AA2-962C-2ED481D8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858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台中工業區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7296C3-D962-4AAE-911E-F24F805D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85900"/>
            <a:ext cx="2667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台中市西屯／南屯區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B49A54-FB14-424B-8C02-8B241C8C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5735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大立光光通訊、CPO基地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22199F-5AC8-4562-A9D8-BAF0F0C5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57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336A62-9997-43AA-A7BE-E0DD09ED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383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嘉義科學園區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E9C8BE-6527-45D6-86FE-2CA676BE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38375"/>
            <a:ext cx="2667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嘉義縣太保市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9764CF-E940-42F3-8DBE-7F0F25B3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9825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台積電 AP6／AP7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95C2CE-870E-4CF6-809B-481A25EA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9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DEDD46-927A-4621-B49C-A8EE3D4E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908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台南科學園區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7B0DCC-1253-4715-BA87-9AA1DAEB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90850"/>
            <a:ext cx="2667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台南市新市區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156093-2C4D-47D4-AFCF-8E1605D5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6230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台積電與日月光擴建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F48EC5-086C-4D72-9ADC-BDD76352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62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1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95F6E1-5BC5-4A44-9E9C-CAC47AE0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433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楠梓產業園區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DA843C-57B0-4216-841C-DFC7D81E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43325"/>
            <a:ext cx="2667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高雄市楠梓區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E1C0B1-6778-49F5-BE90-972C5FFF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14775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台積電高雄 P1 至 P3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C2C45C-7EFC-4665-A8AE-ADA2D3DE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4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1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B0358D-6BE2-40F4-87AD-93BDBB2D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957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橋頭科學園區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AE4CEC-1E92-40F5-BC81-C6CD1C82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95800"/>
            <a:ext cx="2667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高雄市橋頭區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57ECE5-AE33-40F7-ABD2-9842327F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6725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台積電先進製程廠區，規劃中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4A27CD-502A-486D-82C9-567BD968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67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1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CB4DFB4-C8B0-402D-BBCE-0380C957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482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屏東科技園區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69DC847-9F4E-47A4-BA19-5A318337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48275"/>
            <a:ext cx="2667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屏東縣長治鄉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B7E271D-DFB2-40FA-B860-C9D68537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419725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半導體材料與設備供應鏈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6CF84C1-38D4-4E9E-987A-40A7D0DD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742" y="1504978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AA9B46A-7031-40C3-A54A-F294D093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241" y="181154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178BF04-8164-4FDF-A07D-906AEF8E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430" y="1990683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0264C93-0FCF-45CB-9023-4E1F51FE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568" y="2324999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E071B86-4FAB-450D-8969-CB4146B4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176" y="251423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9FA7E72-B475-4963-B560-5DF8FB99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960" y="2617684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9ECDEA6-C70D-4171-8304-A86F99D3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6529" y="2716086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B1553C0-E1CC-4643-B771-D3814D01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2655" y="354241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E3F4A03-1807-461F-BAF7-D65D13D0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094" y="4031904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A849E8E-5C56-454F-BCD5-B422BF49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128" y="4638911"/>
            <a:ext cx="95250" cy="11430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7A98A5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9799804-5293-4CF4-AA90-DB9E0A0F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303" y="4629386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1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2B13793-EA1C-443F-B1C0-F3BACC1D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0064" y="4491810"/>
            <a:ext cx="95250" cy="11430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7A98A5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26B599C-9979-4BC0-BD54-5A8A3388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489" y="436798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1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92776EC-1363-43D6-825A-24194C92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882" y="4545363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1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00097B2-B264-4B0B-BF84-3E62FEDB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623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● 施工、已動工或土地取得      ● 規劃中或待官方確認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5B4EFD3-24CB-411B-A9CB-638722C0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912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位置為園區／建案定位，資料截至2026年9月7日</a:t>
            </a:r>
          </a:p>
        </p:txBody>
      </p:sp>
    </p:spTree>
    <p:extLst>
      <p:ext uri="{BB962C8B-B14F-4D97-AF65-F5344CB8AC3E}">
        <p14:creationId xmlns:p14="http://schemas.microsoft.com/office/powerpoint/2010/main" val="1678357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83769-46A3-44F3-A4FC-0AE0E0E6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A3A"/>
                </a:solidFill>
                <a:latin typeface="Microsoft JhengHei"/>
                <a:ea typeface="Microsoft JhengHei"/>
                <a:cs typeface="Microsoft JhengHei"/>
              </a:rPr>
              <a:t>重大科技廠房建案明細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B8412-D490-4072-98DA-69514D91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D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D7C"/>
                </a:solidFill>
                <a:latin typeface="Microsoft JhengHei"/>
                <a:ea typeface="Microsoft JhengHei"/>
                <a:cs typeface="Microsoft JhengHei"/>
              </a:rPr>
              <a:t>科學園區與重要科技產業聚落，依目前公開資訊整理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14350" y="1104900"/>
          <a:ext xmlns:a="http://schemas.openxmlformats.org/drawingml/2006/main" cx="11163300" cy="4857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1066800"/>
                <a:gridCol w="2647950"/>
                <a:gridCol w="1257300"/>
                <a:gridCol w="2047875"/>
                <a:gridCol w="2524125"/>
              </a:tblGrid>
              <a:tr h="346982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區域／園區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公司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重大廠房／建案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狀態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公開規模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資料備註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北士科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NVIDIA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AI研發中心 T17／T18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規劃中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待查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地上權案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龍潭科學園區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龍潭新廠區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75B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規劃中</a:t>
                      </a:r>
                    </a:p>
                  </a:txBody>
                  <a:tcPr marL="57150" marR="57150" marT="19050" marB="19050"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待查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待官方確認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竹科寶山二期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寶山2奈米晶圓廠 P8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施工中</a:t>
                      </a:r>
                    </a:p>
                  </a:txBody>
                  <a:tcPr marL="57150" marR="57150" marT="19050" marB="19050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土地15,000坪</a:t>
                      </a:r>
                    </a:p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樓地板70,000坪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2奈米主力廠區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新竹／台南科學園區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聯電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新竹晶圓廠群、台南12吋廠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營運／擴建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待查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待拆分具名建案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中科二期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台中1.4奈米晶圓廠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已動工</a:t>
                      </a:r>
                    </a:p>
                  </a:txBody>
                  <a:tcPr marL="57150" marR="57150" marT="19050" marB="19050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土地27,000坪</a:t>
                      </a:r>
                    </a:p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樓地板80,000坪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已取得第一期建照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中部科學園區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美光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台中A3廠區擴建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施工中</a:t>
                      </a:r>
                    </a:p>
                  </a:txBody>
                  <a:tcPr marL="57150" marR="57150" marT="19050" marB="19050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待查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記憶體擴產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銅鑼科學園區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美光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美光銅鑼廠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改造中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樓地板60,000坪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原力積電廠區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台中工業區</a:t>
                      </a:r>
                    </a:p>
                  </a:txBody>
                  <a:tcPr marL="57150" marR="57150" marT="19050" marB="19050">
                    <a:solidFill>
                      <a:srgbClr val="D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大立光</a:t>
                      </a:r>
                    </a:p>
                  </a:txBody>
                  <a:tcPr marL="57150" marR="57150" marT="19050" marB="19050">
                    <a:solidFill>
                      <a:srgbClr val="D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光通訊／CPO產能基地</a:t>
                      </a:r>
                    </a:p>
                  </a:txBody>
                  <a:tcPr marL="57150" marR="57150" marT="19050" marB="19050">
                    <a:solidFill>
                      <a:srgbClr val="D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土地取得</a:t>
                      </a:r>
                    </a:p>
                  </a:txBody>
                  <a:tcPr marL="57150" marR="57150" marT="19050" marB="19050">
                    <a:solidFill>
                      <a:srgbClr val="D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土地13,500坪</a:t>
                      </a:r>
                    </a:p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建物13,000坪</a:t>
                      </a:r>
                    </a:p>
                  </a:txBody>
                  <a:tcPr marL="57150" marR="57150" marT="19050" marB="19050">
                    <a:solidFill>
                      <a:srgbClr val="D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後續動工待追蹤</a:t>
                      </a:r>
                    </a:p>
                  </a:txBody>
                  <a:tcPr marL="57150" marR="57150" marT="19050" marB="19050">
                    <a:solidFill>
                      <a:srgbClr val="DFF4F7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嘉義科學園區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AP6／AP7先進封裝廠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施工中</a:t>
                      </a:r>
                    </a:p>
                  </a:txBody>
                  <a:tcPr marL="57150" marR="57150" marT="19050" marB="19050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土地12,000坪</a:t>
                      </a:r>
                    </a:p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樓地板60,000坪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CoWoS／SoIC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台南科學園區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台積電／日月光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製程與封裝擴建／南科封裝基地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施工／已動工</a:t>
                      </a:r>
                    </a:p>
                  </a:txBody>
                  <a:tcPr marL="57150" marR="57150" marT="19050" marB="19050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台積電樓地板80,000坪</a:t>
                      </a:r>
                    </a:p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日月光35,000坪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供應鏈同步擴建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楠梓產業園區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高雄2奈米廠 P1至P3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施工中</a:t>
                      </a:r>
                    </a:p>
                  </a:txBody>
                  <a:tcPr marL="57150" marR="57150" marT="19050" marB="19050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土地36,000坪</a:t>
                      </a:r>
                    </a:p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樓地板100,000坪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三期建設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橋頭科學園區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橋頭先進製程廠區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75B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規劃中</a:t>
                      </a:r>
                    </a:p>
                  </a:txBody>
                  <a:tcPr marL="57150" marR="57150" marT="19050" marB="19050"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土地約15,000坪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待官方確認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高雄科技聚落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鴻海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高雄AI資料中心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已動工</a:t>
                      </a:r>
                    </a:p>
                  </a:txBody>
                  <a:tcPr marL="57150" marR="57150" marT="19050" marB="19050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待查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AI基礎設施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CEBBE-00EA-4E4E-8089-7958A5DE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B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07B8A"/>
                </a:solidFill>
                <a:latin typeface="Microsoft JhengHei"/>
                <a:ea typeface="Microsoft JhengHei"/>
                <a:cs typeface="Microsoft JhengHei"/>
              </a:rPr>
              <a:t>資料截至2026年9月7日；未公開坪數保留待查；規劃案以官方公告為準</a:t>
            </a:r>
          </a:p>
        </p:txBody>
      </p:sp>
    </p:spTree>
    <p:extLst>
      <p:ext uri="{BB962C8B-B14F-4D97-AF65-F5344CB8AC3E}">
        <p14:creationId xmlns:p14="http://schemas.microsoft.com/office/powerpoint/2010/main" val="8930511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2026-09-07T09:43:41.4080000Z</dcterms:created>
  <dcterms:modified xsi:type="dcterms:W3CDTF">2026-09-07T09:43:41.4080000Z</dcterms:modified>
</coreProperties>
</file>