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5bad4ebfa82422e" /><Relationship Type="http://schemas.openxmlformats.org/officeDocument/2006/relationships/extended-properties" Target="/docProps/app.xml" Id="R5d94b96e58e848bb" /><Relationship Type="http://schemas.openxmlformats.org/officeDocument/2006/relationships/officeDocument" Target="/ppt/presentation.xml" Id="Re85801395bba474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7f894a920324779"/>
  </p:sldMasterIdLst>
  <p:notesMasterIdLst>
    <p:notesMasterId xmlns:r="http://schemas.openxmlformats.org/officeDocument/2006/relationships" r:id="R081c8db52b104d34"/>
  </p:notesMasterIdLst>
  <p:sldIdLst>
    <p:sldId xmlns:r="http://schemas.openxmlformats.org/officeDocument/2006/relationships" id="256" r:id="R83bdd89c40cf4ac1"/>
    <p:sldId xmlns:r="http://schemas.openxmlformats.org/officeDocument/2006/relationships" id="257" r:id="R1ea7b7c8b3a44016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326a068b4fd480f" /><Relationship Type="http://schemas.openxmlformats.org/officeDocument/2006/relationships/slideMaster" Target="/ppt/slideMasters/slideMaster1.xml" Id="R17f894a920324779" /><Relationship Type="http://schemas.openxmlformats.org/officeDocument/2006/relationships/notesMaster" Target="/ppt/notesMasters/notesMaster1.xml" Id="R081c8db52b104d34" /><Relationship Type="http://schemas.openxmlformats.org/officeDocument/2006/relationships/presProps" Target="/ppt/presProps.xml" Id="R0481a76bb74c4aa1" /><Relationship Type="http://schemas.openxmlformats.org/officeDocument/2006/relationships/tableStyles" Target="/ppt/tableStyles.xml" Id="Rb947cdd647b84dae" /><Relationship Type="http://schemas.openxmlformats.org/officeDocument/2006/relationships/slide" Target="/ppt/slides/slide1.xml" Id="R83bdd89c40cf4ac1" /><Relationship Type="http://schemas.openxmlformats.org/officeDocument/2006/relationships/slide" Target="/ppt/slides/slide2.xml" Id="R1ea7b7c8b3a4401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80f5e584edd420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26a7e7573ab4305" /><Relationship Type="http://schemas.openxmlformats.org/officeDocument/2006/relationships/notesMaster" Target="/ppt/notesMasters/notesMaster1.xml" Id="R80a904abda0e473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c47b5848dbc4579" /><Relationship Type="http://schemas.openxmlformats.org/officeDocument/2006/relationships/notesMaster" Target="/ppt/notesMasters/notesMaster1.xml" Id="R784327d30f1b407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來源：techplant data/taiwan_tech_factory.json，更新日期2026-09-07。地圖標點為區域定位示意，不代表地籍界線或廠區範圍。規劃中且未有官方來源者保留待確認。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來源：techplant data/taiwan_tech_factory.json 與 presentation_sources/techplant_major_factories_2026-09-07.md。表格將營運／擴建追蹤與具名新建案分開，未公開坪數不作推估。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cd521bcea46453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f634b5ee092488d" /><Relationship Type="http://schemas.openxmlformats.org/officeDocument/2006/relationships/slideLayout" Target="/ppt/slideLayouts/slideLayout1.xml" Id="R07059a618db946f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7059a618db946f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10d55b059d54ad1" /><Relationship Type="http://schemas.openxmlformats.org/officeDocument/2006/relationships/image" Target="/ppt/media/image.png" Id="R12e7b8ec792140e9" /><Relationship Type="http://schemas.openxmlformats.org/officeDocument/2006/relationships/notesSlide" Target="/ppt/notesSlides/notesSlide1.xml" Id="Rcf8988f10c0242f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1c560e57b444a74" /><Relationship Type="http://schemas.openxmlformats.org/officeDocument/2006/relationships/notesSlide" Target="/ppt/notesSlides/notesSlide2.xml" Id="Rc1cf1530f611468e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7182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D3A82884-0EE0-42BF-ACF3-48A80203B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23850"/>
            <a:ext cx="1104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4118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F2F7F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>
                <a:solidFill>
                  <a:srgbClr val="F2F7FA"/>
                </a:solidFill>
                <a:latin typeface="Microsoft JhengHei"/>
                <a:ea typeface="Microsoft JhengHei"/>
                <a:cs typeface="Microsoft JhengHei"/>
              </a:rPr>
              <a:t>台灣主要科學園區與科技聚落重大廠房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F725C0E-6156-4E28-B9CB-916F21B23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781050"/>
            <a:ext cx="857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A9BDC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A9BDC9"/>
                </a:solidFill>
                <a:latin typeface="Microsoft JhengHei"/>
                <a:ea typeface="Microsoft JhengHei"/>
                <a:cs typeface="Microsoft JhengHei"/>
              </a:rPr>
              <a:t>施工與規劃案集中在竹科、中科、南科及高雄科技聚落</a:t>
            </a:r>
          </a:p>
        </p:txBody>
      </p:sp>
      <p:pic>
        <p:nvPicPr>
          <p:cNvPr id="4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2e7b8ec792140e9"/>
          <a:stretch xmlns:a="http://schemas.openxmlformats.org/drawingml/2006/main"/>
        </p:blipFill>
        <p:spPr>
          <a:xfrm xmlns:a="http://schemas.openxmlformats.org/drawingml/2006/main">
            <a:off x="4292600" y="876300"/>
            <a:ext cx="3606800" cy="541020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62501F6-919E-4BE9-8D05-F1A861784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1763" y="1671638"/>
            <a:ext cx="142875" cy="1428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B84B"/>
          </a:solidFill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4A7A0E0-B22C-4856-B503-32B78315B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4113" y="2138363"/>
            <a:ext cx="142875" cy="1428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5D19A"/>
          </a:solidFill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08C9FCD-5643-4198-AAD0-86E6618FA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38838" y="2728913"/>
            <a:ext cx="142875" cy="1428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5D19A"/>
          </a:solidFill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FD59B98-381F-400E-9C5D-CB7BE3864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05488" y="3224213"/>
            <a:ext cx="142875" cy="1428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5D19A"/>
          </a:solidFill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6C4BB25-AE94-4224-9760-0B3116852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10213" y="4252913"/>
            <a:ext cx="142875" cy="1428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5D19A"/>
          </a:solidFill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9662735-E700-4DC6-96EC-78D5D656B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2113" y="4795838"/>
            <a:ext cx="142875" cy="1428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5D19A"/>
          </a:solidFill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9139B5B-CE70-4B04-BA2A-4BB3193E7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8813" y="5481638"/>
            <a:ext cx="142875" cy="1428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5D19A"/>
          </a:solidFill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2780CAD-1388-4442-9E3C-F46108F5A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0238" y="5862638"/>
            <a:ext cx="142875" cy="1428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B84B"/>
          </a:solidFill>
          <a:ln xmlns:a="http://schemas.openxmlformats.org/drawingml/2006/main" w="19050">
            <a:solidFill>
              <a:srgbClr val="FFFFFF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22EDA82-EFB1-4C6D-A98E-4F584C0E5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428750"/>
            <a:ext cx="47625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B84B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A91948C-1E1B-4662-BA50-FF5E77908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381125"/>
            <a:ext cx="27717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0588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F2B84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1">
                <a:solidFill>
                  <a:srgbClr val="F2B84B"/>
                </a:solidFill>
                <a:latin typeface="Microsoft JhengHei"/>
                <a:ea typeface="Microsoft JhengHei"/>
                <a:cs typeface="Microsoft JhengHei"/>
              </a:rPr>
              <a:t>北部科技軸帶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D0868FE-70AC-4C91-9C3E-7E316EB84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600200"/>
            <a:ext cx="27717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8805"/>
          </a:bodyPr>
          <a:lstStyle xmlns:a="http://schemas.openxmlformats.org/drawingml/2006/main"/>
          <a:p xmlns:a="http://schemas.openxmlformats.org/drawingml/2006/main">
            <a:pPr>
              <a:defRPr sz="1088" b="0">
                <a:solidFill>
                  <a:srgbClr val="F2F7F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88" b="0">
                <a:solidFill>
                  <a:srgbClr val="F2F7FA"/>
                </a:solidFill>
                <a:latin typeface="Microsoft JhengHei"/>
                <a:ea typeface="Microsoft JhengHei"/>
                <a:cs typeface="Microsoft JhengHei"/>
              </a:rPr>
              <a:t>北士科 NVIDIA規劃案</a:t>
            </a:r>
          </a:p>
          <a:p xmlns:a="http://schemas.openxmlformats.org/drawingml/2006/main">
            <a:pPr>
              <a:defRPr sz="1088" b="0">
                <a:solidFill>
                  <a:srgbClr val="F2F7F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88" b="0">
                <a:solidFill>
                  <a:srgbClr val="F2F7FA"/>
                </a:solidFill>
                <a:latin typeface="Microsoft JhengHei"/>
                <a:ea typeface="Microsoft JhengHei"/>
                <a:cs typeface="Microsoft JhengHei"/>
              </a:rPr>
              <a:t>龍潭台積電待官方確認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F133AC6-F451-4F3F-BBCE-EC181B4D4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409825"/>
            <a:ext cx="47625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5D19A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183B4A0-CC4C-423F-B2C4-AEE1A2CF8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362200"/>
            <a:ext cx="27717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0588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45D19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1">
                <a:solidFill>
                  <a:srgbClr val="45D19A"/>
                </a:solidFill>
                <a:latin typeface="Microsoft JhengHei"/>
                <a:ea typeface="Microsoft JhengHei"/>
                <a:cs typeface="Microsoft JhengHei"/>
              </a:rPr>
              <a:t>竹科與寶山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7F2F159-1A04-49DC-B950-CFF040649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581275"/>
            <a:ext cx="27717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8805"/>
          </a:bodyPr>
          <a:lstStyle xmlns:a="http://schemas.openxmlformats.org/drawingml/2006/main"/>
          <a:p xmlns:a="http://schemas.openxmlformats.org/drawingml/2006/main">
            <a:pPr>
              <a:defRPr sz="1088" b="0">
                <a:solidFill>
                  <a:srgbClr val="F2F7F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88" b="0">
                <a:solidFill>
                  <a:srgbClr val="F2F7FA"/>
                </a:solidFill>
                <a:latin typeface="Microsoft JhengHei"/>
                <a:ea typeface="Microsoft JhengHei"/>
                <a:cs typeface="Microsoft JhengHei"/>
              </a:rPr>
              <a:t>台積電2奈米P8施工中</a:t>
            </a:r>
          </a:p>
          <a:p xmlns:a="http://schemas.openxmlformats.org/drawingml/2006/main">
            <a:pPr>
              <a:defRPr sz="1088" b="0">
                <a:solidFill>
                  <a:srgbClr val="F2F7F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88" b="0">
                <a:solidFill>
                  <a:srgbClr val="F2F7FA"/>
                </a:solidFill>
                <a:latin typeface="Microsoft JhengHei"/>
                <a:ea typeface="Microsoft JhengHei"/>
                <a:cs typeface="Microsoft JhengHei"/>
              </a:rPr>
              <a:t>聯電新竹廠群擴建追蹤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404D137-276D-40D9-9FB9-1D145EB2E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390900"/>
            <a:ext cx="47625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5D19A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ACA7070-D152-4D21-9ED4-02270AEC8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343275"/>
            <a:ext cx="27717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0588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45D19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1">
                <a:solidFill>
                  <a:srgbClr val="45D19A"/>
                </a:solidFill>
                <a:latin typeface="Microsoft JhengHei"/>
                <a:ea typeface="Microsoft JhengHei"/>
                <a:cs typeface="Microsoft JhengHei"/>
              </a:rPr>
              <a:t>中科與銅鑼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08C5929-EE62-4F60-91BE-ED6827F18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562350"/>
            <a:ext cx="27717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8805"/>
          </a:bodyPr>
          <a:lstStyle xmlns:a="http://schemas.openxmlformats.org/drawingml/2006/main"/>
          <a:p xmlns:a="http://schemas.openxmlformats.org/drawingml/2006/main">
            <a:pPr>
              <a:defRPr sz="1088" b="0">
                <a:solidFill>
                  <a:srgbClr val="F2F7F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88" b="0">
                <a:solidFill>
                  <a:srgbClr val="F2F7FA"/>
                </a:solidFill>
                <a:latin typeface="Microsoft JhengHei"/>
                <a:ea typeface="Microsoft JhengHei"/>
                <a:cs typeface="Microsoft JhengHei"/>
              </a:rPr>
              <a:t>台積電1.4奈米已動工</a:t>
            </a:r>
          </a:p>
          <a:p xmlns:a="http://schemas.openxmlformats.org/drawingml/2006/main">
            <a:pPr>
              <a:defRPr sz="1088" b="0">
                <a:solidFill>
                  <a:srgbClr val="F2F7F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88" b="0">
                <a:solidFill>
                  <a:srgbClr val="F2F7FA"/>
                </a:solidFill>
                <a:latin typeface="Microsoft JhengHei"/>
                <a:ea typeface="Microsoft JhengHei"/>
                <a:cs typeface="Microsoft JhengHei"/>
              </a:rPr>
              <a:t>美光A3施工、銅鑼廠改造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CD8A81F-5559-4418-8ED9-3F881C35F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371975"/>
            <a:ext cx="47625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B84B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DC5AEEB-AF38-447C-A7F4-25BFED063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324350"/>
            <a:ext cx="27717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0588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F2B84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1">
                <a:solidFill>
                  <a:srgbClr val="F2B84B"/>
                </a:solidFill>
                <a:latin typeface="Microsoft JhengHei"/>
                <a:ea typeface="Microsoft JhengHei"/>
                <a:cs typeface="Microsoft JhengHei"/>
              </a:rPr>
              <a:t>台中工業區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920C698-61BB-4FA7-906C-6B83AF955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543425"/>
            <a:ext cx="27717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8805"/>
          </a:bodyPr>
          <a:lstStyle xmlns:a="http://schemas.openxmlformats.org/drawingml/2006/main"/>
          <a:p xmlns:a="http://schemas.openxmlformats.org/drawingml/2006/main">
            <a:pPr>
              <a:defRPr sz="1088" b="0">
                <a:solidFill>
                  <a:srgbClr val="F2F7F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88" b="0">
                <a:solidFill>
                  <a:srgbClr val="F2F7FA"/>
                </a:solidFill>
                <a:latin typeface="Microsoft JhengHei"/>
                <a:ea typeface="Microsoft JhengHei"/>
                <a:cs typeface="Microsoft JhengHei"/>
              </a:rPr>
              <a:t>大立光光通訊／CPO基地</a:t>
            </a:r>
          </a:p>
          <a:p xmlns:a="http://schemas.openxmlformats.org/drawingml/2006/main">
            <a:pPr>
              <a:defRPr sz="1088" b="0">
                <a:solidFill>
                  <a:srgbClr val="F2F7F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88" b="0">
                <a:solidFill>
                  <a:srgbClr val="F2F7FA"/>
                </a:solidFill>
                <a:latin typeface="Microsoft JhengHei"/>
                <a:ea typeface="Microsoft JhengHei"/>
                <a:cs typeface="Microsoft JhengHei"/>
              </a:rPr>
              <a:t>土地13,500坪、建物13,000坪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3FB71D2-0807-414C-B267-87D4C30AF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1428750"/>
            <a:ext cx="47625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5D19A"/>
          </a:solidFill>
          <a:ln xmlns:a="http://schemas.openxmlformats.org/drawingml/2006/main" w="0">
            <a:noFill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6423DCA-E590-4FE3-8CE1-B2666C895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48725" y="1381125"/>
            <a:ext cx="27717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0588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45D19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1">
                <a:solidFill>
                  <a:srgbClr val="45D19A"/>
                </a:solidFill>
                <a:latin typeface="Microsoft JhengHei"/>
                <a:ea typeface="Microsoft JhengHei"/>
                <a:cs typeface="Microsoft JhengHei"/>
              </a:rPr>
              <a:t>嘉義科學園區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661EB27-A953-46B8-B656-621E302AC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48725" y="1600200"/>
            <a:ext cx="27717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8805"/>
          </a:bodyPr>
          <a:lstStyle xmlns:a="http://schemas.openxmlformats.org/drawingml/2006/main"/>
          <a:p xmlns:a="http://schemas.openxmlformats.org/drawingml/2006/main">
            <a:pPr>
              <a:defRPr sz="1088" b="0">
                <a:solidFill>
                  <a:srgbClr val="F2F7F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88" b="0">
                <a:solidFill>
                  <a:srgbClr val="F2F7FA"/>
                </a:solidFill>
                <a:latin typeface="Microsoft JhengHei"/>
                <a:ea typeface="Microsoft JhengHei"/>
                <a:cs typeface="Microsoft JhengHei"/>
              </a:rPr>
              <a:t>台積電AP6／AP7</a:t>
            </a:r>
          </a:p>
          <a:p xmlns:a="http://schemas.openxmlformats.org/drawingml/2006/main">
            <a:pPr>
              <a:defRPr sz="1088" b="0">
                <a:solidFill>
                  <a:srgbClr val="F2F7F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88" b="0">
                <a:solidFill>
                  <a:srgbClr val="F2F7FA"/>
                </a:solidFill>
                <a:latin typeface="Microsoft JhengHei"/>
                <a:ea typeface="Microsoft JhengHei"/>
                <a:cs typeface="Microsoft JhengHei"/>
              </a:rPr>
              <a:t>CoWoS與SoIC封裝廠施工中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0F43955-5969-4D56-96B1-FF6BB7171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2409825"/>
            <a:ext cx="47625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5D19A"/>
          </a:solidFill>
          <a:ln xmlns:a="http://schemas.openxmlformats.org/drawingml/2006/main" w="0">
            <a:noFill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EFA9EA0-304C-49D9-82F3-5C482C8BC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48725" y="2362200"/>
            <a:ext cx="27717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0588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45D19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1">
                <a:solidFill>
                  <a:srgbClr val="45D19A"/>
                </a:solidFill>
                <a:latin typeface="Microsoft JhengHei"/>
                <a:ea typeface="Microsoft JhengHei"/>
                <a:cs typeface="Microsoft JhengHei"/>
              </a:rPr>
              <a:t>台南科學園區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94D0F5E-21A9-4FEB-AA05-FE389B88F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48725" y="2581275"/>
            <a:ext cx="27717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8805"/>
          </a:bodyPr>
          <a:lstStyle xmlns:a="http://schemas.openxmlformats.org/drawingml/2006/main"/>
          <a:p xmlns:a="http://schemas.openxmlformats.org/drawingml/2006/main">
            <a:pPr>
              <a:defRPr sz="1088" b="0">
                <a:solidFill>
                  <a:srgbClr val="F2F7F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88" b="0">
                <a:solidFill>
                  <a:srgbClr val="F2F7FA"/>
                </a:solidFill>
                <a:latin typeface="Microsoft JhengHei"/>
                <a:ea typeface="Microsoft JhengHei"/>
                <a:cs typeface="Microsoft JhengHei"/>
              </a:rPr>
              <a:t>台積電製程與封裝擴建</a:t>
            </a:r>
          </a:p>
          <a:p xmlns:a="http://schemas.openxmlformats.org/drawingml/2006/main">
            <a:pPr>
              <a:defRPr sz="1088" b="0">
                <a:solidFill>
                  <a:srgbClr val="F2F7F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88" b="0">
                <a:solidFill>
                  <a:srgbClr val="F2F7FA"/>
                </a:solidFill>
                <a:latin typeface="Microsoft JhengHei"/>
                <a:ea typeface="Microsoft JhengHei"/>
                <a:cs typeface="Microsoft JhengHei"/>
              </a:rPr>
              <a:t>日月光改造、聯電擴建追蹤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4C2A8AD-D41F-497B-913E-8AA664ABB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3390900"/>
            <a:ext cx="47625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5D19A"/>
          </a:solidFill>
          <a:ln xmlns:a="http://schemas.openxmlformats.org/drawingml/2006/main" w="0">
            <a:noFill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11F0064-26E3-432B-A0EF-2317BEBA5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48725" y="3343275"/>
            <a:ext cx="27717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0588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45D19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1">
                <a:solidFill>
                  <a:srgbClr val="45D19A"/>
                </a:solidFill>
                <a:latin typeface="Microsoft JhengHei"/>
                <a:ea typeface="Microsoft JhengHei"/>
                <a:cs typeface="Microsoft JhengHei"/>
              </a:rPr>
              <a:t>高雄科技聚落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7889231-8A4D-49D8-AFFF-9F4032321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48725" y="3562350"/>
            <a:ext cx="27717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8805"/>
          </a:bodyPr>
          <a:lstStyle xmlns:a="http://schemas.openxmlformats.org/drawingml/2006/main"/>
          <a:p xmlns:a="http://schemas.openxmlformats.org/drawingml/2006/main">
            <a:pPr>
              <a:defRPr sz="1088" b="0">
                <a:solidFill>
                  <a:srgbClr val="F2F7F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88" b="0">
                <a:solidFill>
                  <a:srgbClr val="F2F7FA"/>
                </a:solidFill>
                <a:latin typeface="Microsoft JhengHei"/>
                <a:ea typeface="Microsoft JhengHei"/>
                <a:cs typeface="Microsoft JhengHei"/>
              </a:rPr>
              <a:t>台積電楠梓2奈米施工中</a:t>
            </a:r>
          </a:p>
          <a:p xmlns:a="http://schemas.openxmlformats.org/drawingml/2006/main">
            <a:pPr>
              <a:defRPr sz="1088" b="0">
                <a:solidFill>
                  <a:srgbClr val="F2F7F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88" b="0">
                <a:solidFill>
                  <a:srgbClr val="F2F7FA"/>
                </a:solidFill>
                <a:latin typeface="Microsoft JhengHei"/>
                <a:ea typeface="Microsoft JhengHei"/>
                <a:cs typeface="Microsoft JhengHei"/>
              </a:rPr>
              <a:t>橋頭規劃、鴻海AI資料中心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D0A9632-ED95-4BA5-B365-22160A540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4371975"/>
            <a:ext cx="47625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B84B"/>
          </a:solidFill>
          <a:ln xmlns:a="http://schemas.openxmlformats.org/drawingml/2006/main" w="0">
            <a:noFill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228D973-8D7D-44DB-AF35-81308705B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48725" y="4324350"/>
            <a:ext cx="27717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0588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F2B84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1">
                <a:solidFill>
                  <a:srgbClr val="F2B84B"/>
                </a:solidFill>
                <a:latin typeface="Microsoft JhengHei"/>
                <a:ea typeface="Microsoft JhengHei"/>
                <a:cs typeface="Microsoft JhengHei"/>
              </a:rPr>
              <a:t>屏東科技園區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D8D7674A-F1DA-4D4C-8330-188BFC576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48725" y="4543425"/>
            <a:ext cx="27717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8805"/>
          </a:bodyPr>
          <a:lstStyle xmlns:a="http://schemas.openxmlformats.org/drawingml/2006/main"/>
          <a:p xmlns:a="http://schemas.openxmlformats.org/drawingml/2006/main">
            <a:pPr>
              <a:defRPr sz="1088" b="0">
                <a:solidFill>
                  <a:srgbClr val="F2F7F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88" b="0">
                <a:solidFill>
                  <a:srgbClr val="F2F7FA"/>
                </a:solidFill>
                <a:latin typeface="Microsoft JhengHei"/>
                <a:ea typeface="Microsoft JhengHei"/>
                <a:cs typeface="Microsoft JhengHei"/>
              </a:rPr>
              <a:t>半導體材料與設備供應鏈</a:t>
            </a:r>
          </a:p>
          <a:p xmlns:a="http://schemas.openxmlformats.org/drawingml/2006/main">
            <a:pPr>
              <a:defRPr sz="1088" b="0">
                <a:solidFill>
                  <a:srgbClr val="F2F7F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88" b="0">
                <a:solidFill>
                  <a:srgbClr val="F2F7FA"/>
                </a:solidFill>
                <a:latin typeface="Microsoft JhengHei"/>
                <a:ea typeface="Microsoft JhengHei"/>
                <a:cs typeface="Microsoft JhengHei"/>
              </a:rPr>
              <a:t>聚落規劃中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5E1B09CC-4A0D-4179-8558-C9A844774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762625"/>
            <a:ext cx="10906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4444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36D1D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1">
                <a:solidFill>
                  <a:srgbClr val="36D1DC"/>
                </a:solidFill>
                <a:latin typeface="Microsoft JhengHei"/>
                <a:ea typeface="Microsoft JhengHei"/>
                <a:cs typeface="Microsoft JhengHei"/>
              </a:rPr>
              <a:t>台積電：六縣市、七項建案；日月光、美光與鴻海也有跨縣市布局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19F884C2-BDC6-40D0-A9AC-FB3164755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143625"/>
            <a:ext cx="109061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8845"/>
          </a:bodyPr>
          <a:lstStyle xmlns:a="http://schemas.openxmlformats.org/drawingml/2006/main"/>
          <a:p xmlns:a="http://schemas.openxmlformats.org/drawingml/2006/main">
            <a:pPr>
              <a:defRPr sz="1013" b="0">
                <a:solidFill>
                  <a:srgbClr val="A9BDC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13" b="0">
                <a:solidFill>
                  <a:srgbClr val="A9BDC9"/>
                </a:solidFill>
                <a:latin typeface="Microsoft JhengHei"/>
                <a:ea typeface="Microsoft JhengHei"/>
                <a:cs typeface="Microsoft JhengHei"/>
              </a:rPr>
              <a:t>● 施工／已動工    ● 土地取得    ● 規劃中或待確認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B5936495-12D8-4D59-8BFD-9C122AACC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96050"/>
            <a:ext cx="109061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5319"/>
          </a:bodyPr>
          <a:lstStyle xmlns:a="http://schemas.openxmlformats.org/drawingml/2006/main"/>
          <a:p xmlns:a="http://schemas.openxmlformats.org/drawingml/2006/main">
            <a:pPr>
              <a:defRPr sz="863" b="0">
                <a:solidFill>
                  <a:srgbClr val="7995A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63" b="0">
                <a:solidFill>
                  <a:srgbClr val="7995A6"/>
                </a:solidFill>
                <a:latin typeface="Microsoft JhengHei"/>
                <a:ea typeface="Microsoft JhengHei"/>
                <a:cs typeface="Microsoft JhengHei"/>
              </a:rPr>
              <a:t>資料截至2026年9月7日；地圖僅表達區域分布，未公開坪數保留待查</a:t>
            </a:r>
          </a:p>
        </p:txBody>
      </p:sp>
    </p:spTree>
    <p:extLst>
      <p:ext uri="{BB962C8B-B14F-4D97-AF65-F5344CB8AC3E}">
        <p14:creationId xmlns:p14="http://schemas.microsoft.com/office/powerpoint/2010/main" val="50761543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4F7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4CD002C-9596-4C37-9F58-841779630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5750"/>
            <a:ext cx="110871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4118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02A3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>
                <a:solidFill>
                  <a:srgbClr val="102A3A"/>
                </a:solidFill>
                <a:latin typeface="Microsoft JhengHei"/>
                <a:ea typeface="Microsoft JhengHei"/>
                <a:cs typeface="Microsoft JhengHei"/>
              </a:rPr>
              <a:t>重大科技廠房建案明細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1CE8B5A-2B19-4C2E-A478-6038D296B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33425"/>
            <a:ext cx="857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D7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526D7C"/>
                </a:solidFill>
                <a:latin typeface="Microsoft JhengHei"/>
                <a:ea typeface="Microsoft JhengHei"/>
                <a:cs typeface="Microsoft JhengHei"/>
              </a:rPr>
              <a:t>科學園區與重要科技產業聚落，依目前公開資訊整理</a:t>
            </a:r>
          </a:p>
        </p:txBody>
      </p:sp>
      <p:graphicFrame>
        <p:nvGraphicFramePr>
          <p:cNvPr id="7" name=""/>
          <p:cNvGraphicFramePr/>
          <p:nvPr/>
        </p:nvGraphicFramePr>
        <p:xfrm>
          <a:off xmlns:a="http://schemas.openxmlformats.org/drawingml/2006/main" x="514350" y="1104900"/>
          <a:ext xmlns:a="http://schemas.openxmlformats.org/drawingml/2006/main" cx="11163300" cy="4857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619250"/>
                <a:gridCol w="1066800"/>
                <a:gridCol w="2647950"/>
                <a:gridCol w="1257300"/>
                <a:gridCol w="2047875"/>
                <a:gridCol w="2524125"/>
              </a:tblGrid>
              <a:tr h="346982"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區域／園區</a:t>
                      </a:r>
                    </a:p>
                  </a:txBody>
                  <a:tcPr marL="66675" marR="66675" marT="38100" marB="38100">
                    <a:solidFill>
                      <a:srgbClr val="12384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公司</a:t>
                      </a:r>
                    </a:p>
                  </a:txBody>
                  <a:tcPr marL="66675" marR="66675" marT="38100" marB="38100">
                    <a:solidFill>
                      <a:srgbClr val="12384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重大廠房／建案</a:t>
                      </a:r>
                    </a:p>
                  </a:txBody>
                  <a:tcPr marL="66675" marR="66675" marT="38100" marB="38100">
                    <a:solidFill>
                      <a:srgbClr val="12384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狀態</a:t>
                      </a:r>
                    </a:p>
                  </a:txBody>
                  <a:tcPr marL="66675" marR="66675" marT="38100" marB="38100">
                    <a:solidFill>
                      <a:srgbClr val="12384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公開規模</a:t>
                      </a:r>
                    </a:p>
                  </a:txBody>
                  <a:tcPr marL="66675" marR="66675" marT="38100" marB="38100">
                    <a:solidFill>
                      <a:srgbClr val="12384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資料備註</a:t>
                      </a:r>
                    </a:p>
                  </a:txBody>
                  <a:tcPr marL="66675" marR="66675" marT="38100" marB="38100">
                    <a:solidFill>
                      <a:srgbClr val="12384F"/>
                    </a:solidFill>
                  </a:tcPr>
                </a:tc>
              </a:tr>
              <a:tr h="346982">
                <a:tc>
                  <a:txBody>
                    <a:bodyPr/>
                    <a:lstStyle/>
                    <a:p>
                      <a:r>
                        <a:rPr sz="863">
                          <a:solidFill>
                            <a:srgbClr val="173344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北士科</a:t>
                      </a:r>
                    </a:p>
                  </a:txBody>
                  <a:tcPr marL="57150" marR="57150" marT="19050" marB="190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63">
                          <a:solidFill>
                            <a:srgbClr val="173344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NVIDIA</a:t>
                      </a:r>
                    </a:p>
                  </a:txBody>
                  <a:tcPr marL="57150" marR="57150" marT="19050" marB="190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63">
                          <a:solidFill>
                            <a:srgbClr val="173344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AI研發中心 T17／T18</a:t>
                      </a:r>
                    </a:p>
                  </a:txBody>
                  <a:tcPr marL="57150" marR="57150" marT="19050" marB="190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63">
                          <a:solidFill>
                            <a:srgbClr val="173344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規劃中</a:t>
                      </a:r>
                    </a:p>
                  </a:txBody>
                  <a:tcPr marL="57150" marR="57150" marT="19050" marB="190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63">
                          <a:solidFill>
                            <a:srgbClr val="173344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待查</a:t>
                      </a:r>
                    </a:p>
                  </a:txBody>
                  <a:tcPr marL="57150" marR="57150" marT="19050" marB="190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63">
                          <a:solidFill>
                            <a:srgbClr val="173344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地上權案</a:t>
                      </a:r>
                    </a:p>
                  </a:txBody>
                  <a:tcPr marL="57150" marR="57150" marT="19050" marB="19050">
                    <a:solidFill>
                      <a:srgbClr val="FFFFFF"/>
                    </a:solidFill>
                  </a:tcPr>
                </a:tc>
              </a:tr>
              <a:tr h="346982">
                <a:tc>
                  <a:txBody>
                    <a:bodyPr/>
                    <a:lstStyle/>
                    <a:p>
                      <a:r>
                        <a:rPr sz="863">
                          <a:solidFill>
                            <a:srgbClr val="173344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龍潭科學園區</a:t>
                      </a:r>
                    </a:p>
                  </a:txBody>
                  <a:tcPr marL="57150" marR="57150" marT="19050" marB="19050">
                    <a:solidFill>
                      <a:srgbClr val="E8F0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63">
                          <a:solidFill>
                            <a:srgbClr val="173344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台積電</a:t>
                      </a:r>
                    </a:p>
                  </a:txBody>
                  <a:tcPr marL="57150" marR="57150" marT="19050" marB="19050">
                    <a:solidFill>
                      <a:srgbClr val="E8F0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63">
                          <a:solidFill>
                            <a:srgbClr val="173344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龍潭新廠區</a:t>
                      </a:r>
                    </a:p>
                  </a:txBody>
                  <a:tcPr marL="57150" marR="57150" marT="19050" marB="19050">
                    <a:solidFill>
                      <a:srgbClr val="E8F0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63" b="1">
                          <a:solidFill>
                            <a:srgbClr val="875B0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規劃中</a:t>
                      </a:r>
                    </a:p>
                  </a:txBody>
                  <a:tcPr marL="57150" marR="57150" marT="19050" marB="19050">
                    <a:solidFill>
                      <a:srgbClr val="FFF1D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63">
                          <a:solidFill>
                            <a:srgbClr val="173344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待查</a:t>
                      </a:r>
                    </a:p>
                  </a:txBody>
                  <a:tcPr marL="57150" marR="57150" marT="19050" marB="19050">
                    <a:solidFill>
                      <a:srgbClr val="E8F0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63">
                          <a:solidFill>
                            <a:srgbClr val="173344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待官方確認</a:t>
                      </a:r>
                    </a:p>
                  </a:txBody>
                  <a:tcPr marL="57150" marR="57150" marT="19050" marB="19050">
                    <a:solidFill>
                      <a:srgbClr val="E8F0F4"/>
                    </a:solidFill>
                  </a:tcPr>
                </a:tc>
              </a:tr>
              <a:tr h="346982">
                <a:tc>
                  <a:txBody>
                    <a:bodyPr/>
                    <a:lstStyle/>
                    <a:p>
                      <a:r>
                        <a:rPr sz="863">
                          <a:solidFill>
                            <a:srgbClr val="173344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竹科寶山二期</a:t>
                      </a:r>
                    </a:p>
                  </a:txBody>
                  <a:tcPr marL="57150" marR="57150" marT="19050" marB="190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63">
                          <a:solidFill>
                            <a:srgbClr val="173344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台積電</a:t>
                      </a:r>
                    </a:p>
                  </a:txBody>
                  <a:tcPr marL="57150" marR="57150" marT="19050" marB="190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63">
                          <a:solidFill>
                            <a:srgbClr val="173344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寶山2奈米晶圓廠 P8</a:t>
                      </a:r>
                    </a:p>
                  </a:txBody>
                  <a:tcPr marL="57150" marR="57150" marT="19050" marB="190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63" b="1">
                          <a:solidFill>
                            <a:srgbClr val="17643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施工中</a:t>
                      </a:r>
                    </a:p>
                  </a:txBody>
                  <a:tcPr marL="57150" marR="57150" marT="19050" marB="19050">
                    <a:solidFill>
                      <a:srgbClr val="DDF4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63">
                          <a:solidFill>
                            <a:srgbClr val="173344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土地15,000坪</a:t>
                      </a:r>
                    </a:p>
                    <a:p>
                      <a:r>
                        <a:rPr sz="863">
                          <a:solidFill>
                            <a:srgbClr val="173344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樓地板70,000坪</a:t>
                      </a:r>
                    </a:p>
                  </a:txBody>
                  <a:tcPr marL="57150" marR="57150" marT="19050" marB="190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63">
                          <a:solidFill>
                            <a:srgbClr val="173344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2奈米主力廠區</a:t>
                      </a:r>
                    </a:p>
                  </a:txBody>
                  <a:tcPr marL="57150" marR="57150" marT="19050" marB="19050">
                    <a:solidFill>
                      <a:srgbClr val="FFFFFF"/>
                    </a:solidFill>
                  </a:tcPr>
                </a:tc>
              </a:tr>
              <a:tr h="346982">
                <a:tc>
                  <a:txBody>
                    <a:bodyPr/>
                    <a:lstStyle/>
                    <a:p>
                      <a:r>
                        <a:rPr sz="863">
                          <a:solidFill>
                            <a:srgbClr val="173344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新竹／台南科學園區</a:t>
                      </a:r>
                    </a:p>
                  </a:txBody>
                  <a:tcPr marL="57150" marR="57150" marT="19050" marB="19050">
                    <a:solidFill>
                      <a:srgbClr val="E8F0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63">
                          <a:solidFill>
                            <a:srgbClr val="173344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聯電</a:t>
                      </a:r>
                    </a:p>
                  </a:txBody>
                  <a:tcPr marL="57150" marR="57150" marT="19050" marB="19050">
                    <a:solidFill>
                      <a:srgbClr val="E8F0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63">
                          <a:solidFill>
                            <a:srgbClr val="173344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新竹晶圓廠群、台南12吋廠</a:t>
                      </a:r>
                    </a:p>
                  </a:txBody>
                  <a:tcPr marL="57150" marR="57150" marT="19050" marB="19050">
                    <a:solidFill>
                      <a:srgbClr val="E8F0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63">
                          <a:solidFill>
                            <a:srgbClr val="173344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營運／擴建</a:t>
                      </a:r>
                    </a:p>
                  </a:txBody>
                  <a:tcPr marL="57150" marR="57150" marT="19050" marB="19050">
                    <a:solidFill>
                      <a:srgbClr val="E8F0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63">
                          <a:solidFill>
                            <a:srgbClr val="173344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待查</a:t>
                      </a:r>
                    </a:p>
                  </a:txBody>
                  <a:tcPr marL="57150" marR="57150" marT="19050" marB="19050">
                    <a:solidFill>
                      <a:srgbClr val="E8F0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63">
                          <a:solidFill>
                            <a:srgbClr val="173344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待拆分具名建案</a:t>
                      </a:r>
                    </a:p>
                  </a:txBody>
                  <a:tcPr marL="57150" marR="57150" marT="19050" marB="19050">
                    <a:solidFill>
                      <a:srgbClr val="E8F0F4"/>
                    </a:solidFill>
                  </a:tcPr>
                </a:tc>
              </a:tr>
              <a:tr h="346982">
                <a:tc>
                  <a:txBody>
                    <a:bodyPr/>
                    <a:lstStyle/>
                    <a:p>
                      <a:r>
                        <a:rPr sz="863">
                          <a:solidFill>
                            <a:srgbClr val="173344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中科二期</a:t>
                      </a:r>
                    </a:p>
                  </a:txBody>
                  <a:tcPr marL="57150" marR="57150" marT="19050" marB="190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63">
                          <a:solidFill>
                            <a:srgbClr val="173344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台積電</a:t>
                      </a:r>
                    </a:p>
                  </a:txBody>
                  <a:tcPr marL="57150" marR="57150" marT="19050" marB="190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63">
                          <a:solidFill>
                            <a:srgbClr val="173344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台中1.4奈米晶圓廠</a:t>
                      </a:r>
                    </a:p>
                  </a:txBody>
                  <a:tcPr marL="57150" marR="57150" marT="19050" marB="190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63" b="1">
                          <a:solidFill>
                            <a:srgbClr val="17643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已動工</a:t>
                      </a:r>
                    </a:p>
                  </a:txBody>
                  <a:tcPr marL="57150" marR="57150" marT="19050" marB="19050">
                    <a:solidFill>
                      <a:srgbClr val="DDF4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63">
                          <a:solidFill>
                            <a:srgbClr val="173344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土地27,000坪</a:t>
                      </a:r>
                    </a:p>
                    <a:p>
                      <a:r>
                        <a:rPr sz="863">
                          <a:solidFill>
                            <a:srgbClr val="173344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樓地板80,000坪</a:t>
                      </a:r>
                    </a:p>
                  </a:txBody>
                  <a:tcPr marL="57150" marR="57150" marT="19050" marB="190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63">
                          <a:solidFill>
                            <a:srgbClr val="173344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已取得第一期建照</a:t>
                      </a:r>
                    </a:p>
                  </a:txBody>
                  <a:tcPr marL="57150" marR="57150" marT="19050" marB="19050">
                    <a:solidFill>
                      <a:srgbClr val="FFFFFF"/>
                    </a:solidFill>
                  </a:tcPr>
                </a:tc>
              </a:tr>
              <a:tr h="346982">
                <a:tc>
                  <a:txBody>
                    <a:bodyPr/>
                    <a:lstStyle/>
                    <a:p>
                      <a:r>
                        <a:rPr sz="863">
                          <a:solidFill>
                            <a:srgbClr val="173344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中部科學園區</a:t>
                      </a:r>
                    </a:p>
                  </a:txBody>
                  <a:tcPr marL="57150" marR="57150" marT="19050" marB="19050">
                    <a:solidFill>
                      <a:srgbClr val="E8F0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63">
                          <a:solidFill>
                            <a:srgbClr val="173344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美光</a:t>
                      </a:r>
                    </a:p>
                  </a:txBody>
                  <a:tcPr marL="57150" marR="57150" marT="19050" marB="19050">
                    <a:solidFill>
                      <a:srgbClr val="E8F0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63">
                          <a:solidFill>
                            <a:srgbClr val="173344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台中A3廠區擴建</a:t>
                      </a:r>
                    </a:p>
                  </a:txBody>
                  <a:tcPr marL="57150" marR="57150" marT="19050" marB="19050">
                    <a:solidFill>
                      <a:srgbClr val="E8F0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63" b="1">
                          <a:solidFill>
                            <a:srgbClr val="17643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施工中</a:t>
                      </a:r>
                    </a:p>
                  </a:txBody>
                  <a:tcPr marL="57150" marR="57150" marT="19050" marB="19050">
                    <a:solidFill>
                      <a:srgbClr val="DDF4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63">
                          <a:solidFill>
                            <a:srgbClr val="173344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待查</a:t>
                      </a:r>
                    </a:p>
                  </a:txBody>
                  <a:tcPr marL="57150" marR="57150" marT="19050" marB="19050">
                    <a:solidFill>
                      <a:srgbClr val="E8F0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63">
                          <a:solidFill>
                            <a:srgbClr val="173344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記憶體擴產</a:t>
                      </a:r>
                    </a:p>
                  </a:txBody>
                  <a:tcPr marL="57150" marR="57150" marT="19050" marB="19050">
                    <a:solidFill>
                      <a:srgbClr val="E8F0F4"/>
                    </a:solidFill>
                  </a:tcPr>
                </a:tc>
              </a:tr>
              <a:tr h="346982">
                <a:tc>
                  <a:txBody>
                    <a:bodyPr/>
                    <a:lstStyle/>
                    <a:p>
                      <a:r>
                        <a:rPr sz="863">
                          <a:solidFill>
                            <a:srgbClr val="173344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銅鑼科學園區</a:t>
                      </a:r>
                    </a:p>
                  </a:txBody>
                  <a:tcPr marL="57150" marR="57150" marT="19050" marB="190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63">
                          <a:solidFill>
                            <a:srgbClr val="173344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美光</a:t>
                      </a:r>
                    </a:p>
                  </a:txBody>
                  <a:tcPr marL="57150" marR="57150" marT="19050" marB="190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63">
                          <a:solidFill>
                            <a:srgbClr val="173344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美光銅鑼廠</a:t>
                      </a:r>
                    </a:p>
                  </a:txBody>
                  <a:tcPr marL="57150" marR="57150" marT="19050" marB="190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63">
                          <a:solidFill>
                            <a:srgbClr val="173344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改造中</a:t>
                      </a:r>
                    </a:p>
                  </a:txBody>
                  <a:tcPr marL="57150" marR="57150" marT="19050" marB="190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63">
                          <a:solidFill>
                            <a:srgbClr val="173344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樓地板60,000坪</a:t>
                      </a:r>
                    </a:p>
                  </a:txBody>
                  <a:tcPr marL="57150" marR="57150" marT="19050" marB="190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63">
                          <a:solidFill>
                            <a:srgbClr val="173344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原力積電廠區</a:t>
                      </a:r>
                    </a:p>
                  </a:txBody>
                  <a:tcPr marL="57150" marR="57150" marT="19050" marB="19050">
                    <a:solidFill>
                      <a:srgbClr val="FFFFFF"/>
                    </a:solidFill>
                  </a:tcPr>
                </a:tc>
              </a:tr>
              <a:tr h="346982">
                <a:tc>
                  <a:txBody>
                    <a:bodyPr/>
                    <a:lstStyle/>
                    <a:p>
                      <a:r>
                        <a:rPr sz="863">
                          <a:solidFill>
                            <a:srgbClr val="173344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台中工業區</a:t>
                      </a:r>
                    </a:p>
                  </a:txBody>
                  <a:tcPr marL="57150" marR="57150" marT="19050" marB="19050">
                    <a:solidFill>
                      <a:srgbClr val="DF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63">
                          <a:solidFill>
                            <a:srgbClr val="173344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大立光</a:t>
                      </a:r>
                    </a:p>
                  </a:txBody>
                  <a:tcPr marL="57150" marR="57150" marT="19050" marB="19050">
                    <a:solidFill>
                      <a:srgbClr val="DF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63">
                          <a:solidFill>
                            <a:srgbClr val="173344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光通訊／CPO產能基地</a:t>
                      </a:r>
                    </a:p>
                  </a:txBody>
                  <a:tcPr marL="57150" marR="57150" marT="19050" marB="19050">
                    <a:solidFill>
                      <a:srgbClr val="DF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63">
                          <a:solidFill>
                            <a:srgbClr val="173344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土地取得</a:t>
                      </a:r>
                    </a:p>
                  </a:txBody>
                  <a:tcPr marL="57150" marR="57150" marT="19050" marB="19050">
                    <a:solidFill>
                      <a:srgbClr val="DF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63">
                          <a:solidFill>
                            <a:srgbClr val="173344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土地13,500坪</a:t>
                      </a:r>
                    </a:p>
                    <a:p>
                      <a:r>
                        <a:rPr sz="863">
                          <a:solidFill>
                            <a:srgbClr val="173344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建物13,000坪</a:t>
                      </a:r>
                    </a:p>
                  </a:txBody>
                  <a:tcPr marL="57150" marR="57150" marT="19050" marB="19050">
                    <a:solidFill>
                      <a:srgbClr val="DF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63">
                          <a:solidFill>
                            <a:srgbClr val="173344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後續動工待追蹤</a:t>
                      </a:r>
                    </a:p>
                  </a:txBody>
                  <a:tcPr marL="57150" marR="57150" marT="19050" marB="19050">
                    <a:solidFill>
                      <a:srgbClr val="DFF4F7"/>
                    </a:solidFill>
                  </a:tcPr>
                </a:tc>
              </a:tr>
              <a:tr h="346982">
                <a:tc>
                  <a:txBody>
                    <a:bodyPr/>
                    <a:lstStyle/>
                    <a:p>
                      <a:r>
                        <a:rPr sz="863">
                          <a:solidFill>
                            <a:srgbClr val="173344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嘉義科學園區</a:t>
                      </a:r>
                    </a:p>
                  </a:txBody>
                  <a:tcPr marL="57150" marR="57150" marT="19050" marB="190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63">
                          <a:solidFill>
                            <a:srgbClr val="173344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台積電</a:t>
                      </a:r>
                    </a:p>
                  </a:txBody>
                  <a:tcPr marL="57150" marR="57150" marT="19050" marB="190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63">
                          <a:solidFill>
                            <a:srgbClr val="173344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AP6／AP7先進封裝廠</a:t>
                      </a:r>
                    </a:p>
                  </a:txBody>
                  <a:tcPr marL="57150" marR="57150" marT="19050" marB="190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63" b="1">
                          <a:solidFill>
                            <a:srgbClr val="17643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施工中</a:t>
                      </a:r>
                    </a:p>
                  </a:txBody>
                  <a:tcPr marL="57150" marR="57150" marT="19050" marB="19050">
                    <a:solidFill>
                      <a:srgbClr val="DDF4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63">
                          <a:solidFill>
                            <a:srgbClr val="173344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土地12,000坪</a:t>
                      </a:r>
                    </a:p>
                    <a:p>
                      <a:r>
                        <a:rPr sz="863">
                          <a:solidFill>
                            <a:srgbClr val="173344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樓地板60,000坪</a:t>
                      </a:r>
                    </a:p>
                  </a:txBody>
                  <a:tcPr marL="57150" marR="57150" marT="19050" marB="190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63">
                          <a:solidFill>
                            <a:srgbClr val="173344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CoWoS／SoIC</a:t>
                      </a:r>
                    </a:p>
                  </a:txBody>
                  <a:tcPr marL="57150" marR="57150" marT="19050" marB="19050">
                    <a:solidFill>
                      <a:srgbClr val="FFFFFF"/>
                    </a:solidFill>
                  </a:tcPr>
                </a:tc>
              </a:tr>
              <a:tr h="346982">
                <a:tc>
                  <a:txBody>
                    <a:bodyPr/>
                    <a:lstStyle/>
                    <a:p>
                      <a:r>
                        <a:rPr sz="863">
                          <a:solidFill>
                            <a:srgbClr val="173344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台南科學園區</a:t>
                      </a:r>
                    </a:p>
                  </a:txBody>
                  <a:tcPr marL="57150" marR="57150" marT="19050" marB="19050">
                    <a:solidFill>
                      <a:srgbClr val="E8F0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63">
                          <a:solidFill>
                            <a:srgbClr val="173344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台積電／日月光</a:t>
                      </a:r>
                    </a:p>
                  </a:txBody>
                  <a:tcPr marL="57150" marR="57150" marT="19050" marB="19050">
                    <a:solidFill>
                      <a:srgbClr val="E8F0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63">
                          <a:solidFill>
                            <a:srgbClr val="173344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製程與封裝擴建／南科封裝基地</a:t>
                      </a:r>
                    </a:p>
                  </a:txBody>
                  <a:tcPr marL="57150" marR="57150" marT="19050" marB="19050">
                    <a:solidFill>
                      <a:srgbClr val="E8F0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63" b="1">
                          <a:solidFill>
                            <a:srgbClr val="17643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施工／已動工</a:t>
                      </a:r>
                    </a:p>
                  </a:txBody>
                  <a:tcPr marL="57150" marR="57150" marT="19050" marB="19050">
                    <a:solidFill>
                      <a:srgbClr val="DDF4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63">
                          <a:solidFill>
                            <a:srgbClr val="173344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台積電樓地板80,000坪</a:t>
                      </a:r>
                    </a:p>
                    <a:p>
                      <a:r>
                        <a:rPr sz="863">
                          <a:solidFill>
                            <a:srgbClr val="173344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日月光35,000坪</a:t>
                      </a:r>
                    </a:p>
                  </a:txBody>
                  <a:tcPr marL="57150" marR="57150" marT="19050" marB="19050">
                    <a:solidFill>
                      <a:srgbClr val="E8F0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63">
                          <a:solidFill>
                            <a:srgbClr val="173344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供應鏈同步擴建</a:t>
                      </a:r>
                    </a:p>
                  </a:txBody>
                  <a:tcPr marL="57150" marR="57150" marT="19050" marB="19050">
                    <a:solidFill>
                      <a:srgbClr val="E8F0F4"/>
                    </a:solidFill>
                  </a:tcPr>
                </a:tc>
              </a:tr>
              <a:tr h="346982">
                <a:tc>
                  <a:txBody>
                    <a:bodyPr/>
                    <a:lstStyle/>
                    <a:p>
                      <a:r>
                        <a:rPr sz="863">
                          <a:solidFill>
                            <a:srgbClr val="173344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楠梓產業園區</a:t>
                      </a:r>
                    </a:p>
                  </a:txBody>
                  <a:tcPr marL="57150" marR="57150" marT="19050" marB="190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63">
                          <a:solidFill>
                            <a:srgbClr val="173344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台積電</a:t>
                      </a:r>
                    </a:p>
                  </a:txBody>
                  <a:tcPr marL="57150" marR="57150" marT="19050" marB="190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63">
                          <a:solidFill>
                            <a:srgbClr val="173344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高雄2奈米廠 P1至P3</a:t>
                      </a:r>
                    </a:p>
                  </a:txBody>
                  <a:tcPr marL="57150" marR="57150" marT="19050" marB="190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63" b="1">
                          <a:solidFill>
                            <a:srgbClr val="17643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施工中</a:t>
                      </a:r>
                    </a:p>
                  </a:txBody>
                  <a:tcPr marL="57150" marR="57150" marT="19050" marB="19050">
                    <a:solidFill>
                      <a:srgbClr val="DDF4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63">
                          <a:solidFill>
                            <a:srgbClr val="173344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土地36,000坪</a:t>
                      </a:r>
                    </a:p>
                    <a:p>
                      <a:r>
                        <a:rPr sz="863">
                          <a:solidFill>
                            <a:srgbClr val="173344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樓地板100,000坪</a:t>
                      </a:r>
                    </a:p>
                  </a:txBody>
                  <a:tcPr marL="57150" marR="57150" marT="19050" marB="190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63">
                          <a:solidFill>
                            <a:srgbClr val="173344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三期建設</a:t>
                      </a:r>
                    </a:p>
                  </a:txBody>
                  <a:tcPr marL="57150" marR="57150" marT="19050" marB="19050">
                    <a:solidFill>
                      <a:srgbClr val="FFFFFF"/>
                    </a:solidFill>
                  </a:tcPr>
                </a:tc>
              </a:tr>
              <a:tr h="346982">
                <a:tc>
                  <a:txBody>
                    <a:bodyPr/>
                    <a:lstStyle/>
                    <a:p>
                      <a:r>
                        <a:rPr sz="863">
                          <a:solidFill>
                            <a:srgbClr val="173344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橋頭科學園區</a:t>
                      </a:r>
                    </a:p>
                  </a:txBody>
                  <a:tcPr marL="57150" marR="57150" marT="19050" marB="19050">
                    <a:solidFill>
                      <a:srgbClr val="E8F0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63">
                          <a:solidFill>
                            <a:srgbClr val="173344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台積電</a:t>
                      </a:r>
                    </a:p>
                  </a:txBody>
                  <a:tcPr marL="57150" marR="57150" marT="19050" marB="19050">
                    <a:solidFill>
                      <a:srgbClr val="E8F0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63">
                          <a:solidFill>
                            <a:srgbClr val="173344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橋頭先進製程廠區</a:t>
                      </a:r>
                    </a:p>
                  </a:txBody>
                  <a:tcPr marL="57150" marR="57150" marT="19050" marB="19050">
                    <a:solidFill>
                      <a:srgbClr val="E8F0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63" b="1">
                          <a:solidFill>
                            <a:srgbClr val="875B0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規劃中</a:t>
                      </a:r>
                    </a:p>
                  </a:txBody>
                  <a:tcPr marL="57150" marR="57150" marT="19050" marB="19050">
                    <a:solidFill>
                      <a:srgbClr val="FFF1D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63">
                          <a:solidFill>
                            <a:srgbClr val="173344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土地約15,000坪</a:t>
                      </a:r>
                    </a:p>
                  </a:txBody>
                  <a:tcPr marL="57150" marR="57150" marT="19050" marB="19050">
                    <a:solidFill>
                      <a:srgbClr val="E8F0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63">
                          <a:solidFill>
                            <a:srgbClr val="173344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待官方確認</a:t>
                      </a:r>
                    </a:p>
                  </a:txBody>
                  <a:tcPr marL="57150" marR="57150" marT="19050" marB="19050">
                    <a:solidFill>
                      <a:srgbClr val="E8F0F4"/>
                    </a:solidFill>
                  </a:tcPr>
                </a:tc>
              </a:tr>
              <a:tr h="346982">
                <a:tc>
                  <a:txBody>
                    <a:bodyPr/>
                    <a:lstStyle/>
                    <a:p>
                      <a:r>
                        <a:rPr sz="863">
                          <a:solidFill>
                            <a:srgbClr val="173344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高雄科技聚落</a:t>
                      </a:r>
                    </a:p>
                  </a:txBody>
                  <a:tcPr marL="57150" marR="57150" marT="19050" marB="190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63">
                          <a:solidFill>
                            <a:srgbClr val="173344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鴻海</a:t>
                      </a:r>
                    </a:p>
                  </a:txBody>
                  <a:tcPr marL="57150" marR="57150" marT="19050" marB="190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63">
                          <a:solidFill>
                            <a:srgbClr val="173344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高雄AI資料中心</a:t>
                      </a:r>
                    </a:p>
                  </a:txBody>
                  <a:tcPr marL="57150" marR="57150" marT="19050" marB="190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63" b="1">
                          <a:solidFill>
                            <a:srgbClr val="17643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已動工</a:t>
                      </a:r>
                    </a:p>
                  </a:txBody>
                  <a:tcPr marL="57150" marR="57150" marT="19050" marB="19050">
                    <a:solidFill>
                      <a:srgbClr val="DDF4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63">
                          <a:solidFill>
                            <a:srgbClr val="173344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待查</a:t>
                      </a:r>
                    </a:p>
                  </a:txBody>
                  <a:tcPr marL="57150" marR="57150" marT="19050" marB="190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63">
                          <a:solidFill>
                            <a:srgbClr val="173344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AI基礎設施</a:t>
                      </a:r>
                    </a:p>
                  </a:txBody>
                  <a:tcPr marL="57150" marR="57150" marT="19050" marB="1905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F9187DA-04EB-4BC9-9071-2B196D3A2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191250"/>
            <a:ext cx="11144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07B8A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00" b="0">
                <a:solidFill>
                  <a:srgbClr val="607B8A"/>
                </a:solidFill>
                <a:latin typeface="Microsoft JhengHei"/>
                <a:ea typeface="Microsoft JhengHei"/>
                <a:cs typeface="Microsoft JhengHei"/>
              </a:rPr>
              <a:t>資料截至2026年9月7日；未公開坪數保留待查；規劃案以官方公告為準</a:t>
            </a:r>
          </a:p>
        </p:txBody>
      </p:sp>
    </p:spTree>
    <p:extLst>
      <p:ext uri="{BB962C8B-B14F-4D97-AF65-F5344CB8AC3E}">
        <p14:creationId xmlns:p14="http://schemas.microsoft.com/office/powerpoint/2010/main" val="193335679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2026-09-07T09:25:52.4030000Z</dcterms:created>
  <dcterms:modified xsi:type="dcterms:W3CDTF">2026-09-07T09:25:52.4030000Z</dcterms:modified>
</coreProperties>
</file>