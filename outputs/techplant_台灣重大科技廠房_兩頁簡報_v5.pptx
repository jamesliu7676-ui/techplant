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位置來源：techplant data/taiwan_tech_factory.json 的 lat／lng 欄位，更新日期2026-09-07。行政區底圖來源：專案內 data/taiwan_counties.geojson，原始說明指向內政部統計地理資訊應用系統。高雄楠梓與橋頭位置相近，標號以短引線錯開顯示。地圖代表園區／建案定位，不代表地籍界線或廠區範圍。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來源：techplant data/taiwan_tech_factory.json 與 presentation_sources/techplant_major_factories_2026-09-07.md。表格將營運／擴建追蹤與具名新建案分開，未公開坪數不作推估。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矩形 94">
            <a:extLst>
              <a:ext uri="{FF2B5EF4-FFF2-40B4-BE49-F238E27FC236}">
                <a16:creationId xmlns:a16="http://schemas.microsoft.com/office/drawing/2014/main" id="{FE04269D-C670-4970-ADAC-4860AED71CE7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110871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118"/>
          </a:bodyPr>
          <a:lstStyle/>
          <a:p>
            <a:pPr>
              <a:defRPr sz="2550" b="1">
                <a:solidFill>
                  <a:srgbClr val="1238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2384F"/>
                </a:solidFill>
                <a:latin typeface="Microsoft JhengHei"/>
                <a:ea typeface="Microsoft JhengHei"/>
                <a:cs typeface="Microsoft JhengHei"/>
              </a:rPr>
              <a:t>台灣主要科學園區與科技廠房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AE6B79-6FB3-4ADA-AB0B-9792C6DFE637}"/>
              </a:ext>
            </a:extLst>
          </p:cNvPr>
          <p:cNvSpPr>
            <a:spLocks noGrp="1"/>
          </p:cNvSpPr>
          <p:nvPr/>
        </p:nvSpPr>
        <p:spPr>
          <a:xfrm>
            <a:off x="609600" y="1115323"/>
            <a:ext cx="11049000" cy="19050"/>
          </a:xfrm>
          <a:prstGeom prst="rect">
            <a:avLst/>
          </a:prstGeom>
          <a:solidFill>
            <a:srgbClr val="CFE1E8"/>
          </a:solidFill>
          <a:ln w="0">
            <a:noFill/>
          </a:ln>
        </p:spPr>
      </p:sp>
      <p:pic>
        <p:nvPicPr>
          <p:cNvPr id="98" name="圖片 9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88252" y="1219200"/>
            <a:ext cx="4415497" cy="4629150"/>
          </a:xfrm>
          <a:prstGeom prst="rect">
            <a:avLst/>
          </a:prstGeom>
        </p:spPr>
      </p:pic>
      <p:sp>
        <p:nvSpPr>
          <p:cNvPr id="5" name="橢圓 4">
            <a:extLst>
              <a:ext uri="{FF2B5EF4-FFF2-40B4-BE49-F238E27FC236}">
                <a16:creationId xmlns:a16="http://schemas.microsoft.com/office/drawing/2014/main" id="{72D73B91-9A9B-48A1-957C-9D7195ECEE4B}"/>
              </a:ext>
            </a:extLst>
          </p:cNvPr>
          <p:cNvSpPr>
            <a:spLocks noGrp="1"/>
          </p:cNvSpPr>
          <p:nvPr/>
        </p:nvSpPr>
        <p:spPr>
          <a:xfrm>
            <a:off x="590550" y="1304925"/>
            <a:ext cx="266700" cy="266700"/>
          </a:xfrm>
          <a:prstGeom prst="ellipse">
            <a:avLst/>
          </a:prstGeom>
          <a:solidFill>
            <a:srgbClr val="E6A23C"/>
          </a:solidFill>
          <a:ln w="19050">
            <a:solidFill>
              <a:srgbClr val="FFFFFF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7E287C-A772-460C-BDC0-9F5DA1CFA159}"/>
              </a:ext>
            </a:extLst>
          </p:cNvPr>
          <p:cNvSpPr>
            <a:spLocks noGrp="1"/>
          </p:cNvSpPr>
          <p:nvPr/>
        </p:nvSpPr>
        <p:spPr>
          <a:xfrm>
            <a:off x="561975" y="1343025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4BBA4FC-C514-48B3-BECA-C241250788DE}"/>
              </a:ext>
            </a:extLst>
          </p:cNvPr>
          <p:cNvSpPr>
            <a:spLocks noGrp="1"/>
          </p:cNvSpPr>
          <p:nvPr/>
        </p:nvSpPr>
        <p:spPr>
          <a:xfrm>
            <a:off x="971550" y="1285875"/>
            <a:ext cx="26860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北投士林科技園區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CAB413D-BA65-489A-9319-73D60CB66589}"/>
              </a:ext>
            </a:extLst>
          </p:cNvPr>
          <p:cNvSpPr>
            <a:spLocks noGrp="1"/>
          </p:cNvSpPr>
          <p:nvPr/>
        </p:nvSpPr>
        <p:spPr>
          <a:xfrm>
            <a:off x="971550" y="1485900"/>
            <a:ext cx="2686050" cy="180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台北市北投區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0F6B22C-F46C-49C9-A2D9-8B74C63341FD}"/>
              </a:ext>
            </a:extLst>
          </p:cNvPr>
          <p:cNvSpPr>
            <a:spLocks noGrp="1"/>
          </p:cNvSpPr>
          <p:nvPr/>
        </p:nvSpPr>
        <p:spPr>
          <a:xfrm>
            <a:off x="971550" y="1657350"/>
            <a:ext cx="268605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 dirty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NVIDIA </a:t>
            </a:r>
            <a:r>
              <a:rPr sz="1600" b="0" dirty="0" err="1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AI研發中心</a:t>
            </a:r>
            <a:endParaRPr sz="1600" b="0" dirty="0">
              <a:solidFill>
                <a:srgbClr val="294D6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0CD48C1B-D0FF-494D-A07D-0D24CC2FBCAD}"/>
              </a:ext>
            </a:extLst>
          </p:cNvPr>
          <p:cNvSpPr>
            <a:spLocks noGrp="1"/>
          </p:cNvSpPr>
          <p:nvPr/>
        </p:nvSpPr>
        <p:spPr>
          <a:xfrm>
            <a:off x="590550" y="2057400"/>
            <a:ext cx="266700" cy="266700"/>
          </a:xfrm>
          <a:prstGeom prst="ellipse">
            <a:avLst/>
          </a:prstGeom>
          <a:solidFill>
            <a:srgbClr val="E6A23C"/>
          </a:solidFill>
          <a:ln w="19050">
            <a:solidFill>
              <a:srgbClr val="FFFFFF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7131F7F-CFC7-4280-973B-14E273584AA6}"/>
              </a:ext>
            </a:extLst>
          </p:cNvPr>
          <p:cNvSpPr>
            <a:spLocks noGrp="1"/>
          </p:cNvSpPr>
          <p:nvPr/>
        </p:nvSpPr>
        <p:spPr>
          <a:xfrm>
            <a:off x="561975" y="209550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642DB97-4194-49A1-9C2C-52996CA21FEC}"/>
              </a:ext>
            </a:extLst>
          </p:cNvPr>
          <p:cNvSpPr>
            <a:spLocks noGrp="1"/>
          </p:cNvSpPr>
          <p:nvPr/>
        </p:nvSpPr>
        <p:spPr>
          <a:xfrm>
            <a:off x="971550" y="2038350"/>
            <a:ext cx="26860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龍潭科學園區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5CF4AB1-D90A-4E7C-AE18-9B35C1331D2E}"/>
              </a:ext>
            </a:extLst>
          </p:cNvPr>
          <p:cNvSpPr>
            <a:spLocks noGrp="1"/>
          </p:cNvSpPr>
          <p:nvPr/>
        </p:nvSpPr>
        <p:spPr>
          <a:xfrm>
            <a:off x="971550" y="2238375"/>
            <a:ext cx="2686050" cy="180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桃園市龍潭區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4793B1-F989-48AF-9AFC-704DCEC3F08F}"/>
              </a:ext>
            </a:extLst>
          </p:cNvPr>
          <p:cNvSpPr>
            <a:spLocks noGrp="1"/>
          </p:cNvSpPr>
          <p:nvPr/>
        </p:nvSpPr>
        <p:spPr>
          <a:xfrm>
            <a:off x="971550" y="2409825"/>
            <a:ext cx="268605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台積電新廠區，待官方確認</a:t>
            </a: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7E99FEAB-9170-410B-96A2-557997969DFE}"/>
              </a:ext>
            </a:extLst>
          </p:cNvPr>
          <p:cNvSpPr>
            <a:spLocks noGrp="1"/>
          </p:cNvSpPr>
          <p:nvPr/>
        </p:nvSpPr>
        <p:spPr>
          <a:xfrm>
            <a:off x="590550" y="2809875"/>
            <a:ext cx="266700" cy="266700"/>
          </a:xfrm>
          <a:prstGeom prst="ellipse">
            <a:avLst/>
          </a:prstGeom>
          <a:solidFill>
            <a:srgbClr val="0E8798"/>
          </a:solidFill>
          <a:ln w="19050">
            <a:solidFill>
              <a:srgbClr val="FFFFFF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C9E7AB4-BE5E-4486-9105-6B14550BBC77}"/>
              </a:ext>
            </a:extLst>
          </p:cNvPr>
          <p:cNvSpPr>
            <a:spLocks noGrp="1"/>
          </p:cNvSpPr>
          <p:nvPr/>
        </p:nvSpPr>
        <p:spPr>
          <a:xfrm>
            <a:off x="561975" y="2847975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FA668F0-1A3C-4874-A568-F3F43C205B55}"/>
              </a:ext>
            </a:extLst>
          </p:cNvPr>
          <p:cNvSpPr>
            <a:spLocks noGrp="1"/>
          </p:cNvSpPr>
          <p:nvPr/>
        </p:nvSpPr>
        <p:spPr>
          <a:xfrm>
            <a:off x="971550" y="2790825"/>
            <a:ext cx="26860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竹科寶山二期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E71CA12-AC7D-4F7C-91AF-93F2282E3E59}"/>
              </a:ext>
            </a:extLst>
          </p:cNvPr>
          <p:cNvSpPr>
            <a:spLocks noGrp="1"/>
          </p:cNvSpPr>
          <p:nvPr/>
        </p:nvSpPr>
        <p:spPr>
          <a:xfrm>
            <a:off x="971550" y="2990850"/>
            <a:ext cx="2686050" cy="180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新竹縣寶山鄉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C9B6DA3-47F2-4586-98E2-C35087070715}"/>
              </a:ext>
            </a:extLst>
          </p:cNvPr>
          <p:cNvSpPr>
            <a:spLocks noGrp="1"/>
          </p:cNvSpPr>
          <p:nvPr/>
        </p:nvSpPr>
        <p:spPr>
          <a:xfrm>
            <a:off x="971550" y="3162300"/>
            <a:ext cx="268605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台積電 P8 2奈米廠</a:t>
            </a: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76D43756-DE63-44B0-B185-5559E8FCE461}"/>
              </a:ext>
            </a:extLst>
          </p:cNvPr>
          <p:cNvSpPr>
            <a:spLocks noGrp="1"/>
          </p:cNvSpPr>
          <p:nvPr/>
        </p:nvSpPr>
        <p:spPr>
          <a:xfrm>
            <a:off x="590550" y="3562350"/>
            <a:ext cx="266700" cy="266700"/>
          </a:xfrm>
          <a:prstGeom prst="ellipse">
            <a:avLst/>
          </a:prstGeom>
          <a:solidFill>
            <a:srgbClr val="0E8798"/>
          </a:solidFill>
          <a:ln w="19050">
            <a:solidFill>
              <a:srgbClr val="FFFFFF"/>
            </a:solidFill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F70DEBA-A01F-40D6-BBDB-89C073AFE277}"/>
              </a:ext>
            </a:extLst>
          </p:cNvPr>
          <p:cNvSpPr>
            <a:spLocks noGrp="1"/>
          </p:cNvSpPr>
          <p:nvPr/>
        </p:nvSpPr>
        <p:spPr>
          <a:xfrm>
            <a:off x="561975" y="360045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C8CC1AC-70C8-4F77-B93A-67A5A341542B}"/>
              </a:ext>
            </a:extLst>
          </p:cNvPr>
          <p:cNvSpPr>
            <a:spLocks noGrp="1"/>
          </p:cNvSpPr>
          <p:nvPr/>
        </p:nvSpPr>
        <p:spPr>
          <a:xfrm>
            <a:off x="971550" y="3543300"/>
            <a:ext cx="26860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銅鑼科學園區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1DEA575-B640-44DA-BE7F-2A7798D74F1E}"/>
              </a:ext>
            </a:extLst>
          </p:cNvPr>
          <p:cNvSpPr>
            <a:spLocks noGrp="1"/>
          </p:cNvSpPr>
          <p:nvPr/>
        </p:nvSpPr>
        <p:spPr>
          <a:xfrm>
            <a:off x="971550" y="3743325"/>
            <a:ext cx="2686050" cy="180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苗栗縣銅鑼鄉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2BCBC23-C2AD-4EBE-A69B-076AD5C4C14D}"/>
              </a:ext>
            </a:extLst>
          </p:cNvPr>
          <p:cNvSpPr>
            <a:spLocks noGrp="1"/>
          </p:cNvSpPr>
          <p:nvPr/>
        </p:nvSpPr>
        <p:spPr>
          <a:xfrm>
            <a:off x="971550" y="3914775"/>
            <a:ext cx="268605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美光銅鑼廠</a:t>
            </a: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6110D73A-9407-4501-AE19-C582BC7D20B0}"/>
              </a:ext>
            </a:extLst>
          </p:cNvPr>
          <p:cNvSpPr>
            <a:spLocks noGrp="1"/>
          </p:cNvSpPr>
          <p:nvPr/>
        </p:nvSpPr>
        <p:spPr>
          <a:xfrm>
            <a:off x="590550" y="4314825"/>
            <a:ext cx="266700" cy="266700"/>
          </a:xfrm>
          <a:prstGeom prst="ellipse">
            <a:avLst/>
          </a:prstGeom>
          <a:solidFill>
            <a:srgbClr val="0E8798"/>
          </a:solidFill>
          <a:ln w="19050">
            <a:solidFill>
              <a:srgbClr val="FFFFFF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5D4E215-705D-4EEF-B437-DD2BEE9292C9}"/>
              </a:ext>
            </a:extLst>
          </p:cNvPr>
          <p:cNvSpPr>
            <a:spLocks noGrp="1"/>
          </p:cNvSpPr>
          <p:nvPr/>
        </p:nvSpPr>
        <p:spPr>
          <a:xfrm>
            <a:off x="561975" y="4352925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260550F-2113-49FB-AF47-D3052F3B4AE1}"/>
              </a:ext>
            </a:extLst>
          </p:cNvPr>
          <p:cNvSpPr>
            <a:spLocks noGrp="1"/>
          </p:cNvSpPr>
          <p:nvPr/>
        </p:nvSpPr>
        <p:spPr>
          <a:xfrm>
            <a:off x="971550" y="4295775"/>
            <a:ext cx="26860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中科后里園區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F2C5AA9-C65C-414B-A70A-76DF969F1218}"/>
              </a:ext>
            </a:extLst>
          </p:cNvPr>
          <p:cNvSpPr>
            <a:spLocks noGrp="1"/>
          </p:cNvSpPr>
          <p:nvPr/>
        </p:nvSpPr>
        <p:spPr>
          <a:xfrm>
            <a:off x="971550" y="4495800"/>
            <a:ext cx="2686050" cy="180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台中市后里區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3536A60-68CF-4607-AAB8-3B0639900B40}"/>
              </a:ext>
            </a:extLst>
          </p:cNvPr>
          <p:cNvSpPr>
            <a:spLocks noGrp="1"/>
          </p:cNvSpPr>
          <p:nvPr/>
        </p:nvSpPr>
        <p:spPr>
          <a:xfrm>
            <a:off x="971550" y="4667250"/>
            <a:ext cx="268605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美光 A3 廠區擴建</a:t>
            </a:r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76C64DA5-ADA7-4E99-989E-96A7F625A55C}"/>
              </a:ext>
            </a:extLst>
          </p:cNvPr>
          <p:cNvSpPr>
            <a:spLocks noGrp="1"/>
          </p:cNvSpPr>
          <p:nvPr/>
        </p:nvSpPr>
        <p:spPr>
          <a:xfrm>
            <a:off x="590550" y="5067300"/>
            <a:ext cx="266700" cy="266700"/>
          </a:xfrm>
          <a:prstGeom prst="ellipse">
            <a:avLst/>
          </a:prstGeom>
          <a:solidFill>
            <a:srgbClr val="0E8798"/>
          </a:solidFill>
          <a:ln w="19050">
            <a:solidFill>
              <a:srgbClr val="FFFFFF"/>
            </a:solidFill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3AAAA54-9387-4417-A352-5380A8FA8F31}"/>
              </a:ext>
            </a:extLst>
          </p:cNvPr>
          <p:cNvSpPr>
            <a:spLocks noGrp="1"/>
          </p:cNvSpPr>
          <p:nvPr/>
        </p:nvSpPr>
        <p:spPr>
          <a:xfrm>
            <a:off x="561975" y="510540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2092444-55A9-429E-947C-B5BD18422777}"/>
              </a:ext>
            </a:extLst>
          </p:cNvPr>
          <p:cNvSpPr>
            <a:spLocks noGrp="1"/>
          </p:cNvSpPr>
          <p:nvPr/>
        </p:nvSpPr>
        <p:spPr>
          <a:xfrm>
            <a:off x="971550" y="5048250"/>
            <a:ext cx="26860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中科二期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E2CD596-35EC-4DD9-B020-D9B9184C1446}"/>
              </a:ext>
            </a:extLst>
          </p:cNvPr>
          <p:cNvSpPr>
            <a:spLocks noGrp="1"/>
          </p:cNvSpPr>
          <p:nvPr/>
        </p:nvSpPr>
        <p:spPr>
          <a:xfrm>
            <a:off x="971550" y="5248275"/>
            <a:ext cx="2686050" cy="180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台中市大雅區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7CF38EE-EE21-4C1B-AE1D-B980C0BA7352}"/>
              </a:ext>
            </a:extLst>
          </p:cNvPr>
          <p:cNvSpPr>
            <a:spLocks noGrp="1"/>
          </p:cNvSpPr>
          <p:nvPr/>
        </p:nvSpPr>
        <p:spPr>
          <a:xfrm>
            <a:off x="971550" y="5419725"/>
            <a:ext cx="268605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台積電 1.4奈米廠</a:t>
            </a:r>
          </a:p>
        </p:txBody>
      </p:sp>
      <p:sp>
        <p:nvSpPr>
          <p:cNvPr id="35" name="橢圓 34">
            <a:extLst>
              <a:ext uri="{FF2B5EF4-FFF2-40B4-BE49-F238E27FC236}">
                <a16:creationId xmlns:a16="http://schemas.microsoft.com/office/drawing/2014/main" id="{13E8A7BC-D16D-4177-BE53-97667ACCA66F}"/>
              </a:ext>
            </a:extLst>
          </p:cNvPr>
          <p:cNvSpPr>
            <a:spLocks noGrp="1"/>
          </p:cNvSpPr>
          <p:nvPr/>
        </p:nvSpPr>
        <p:spPr>
          <a:xfrm>
            <a:off x="8572500" y="1304925"/>
            <a:ext cx="266700" cy="266700"/>
          </a:xfrm>
          <a:prstGeom prst="ellipse">
            <a:avLst/>
          </a:prstGeom>
          <a:solidFill>
            <a:srgbClr val="0E8798"/>
          </a:solidFill>
          <a:ln w="19050">
            <a:solidFill>
              <a:srgbClr val="FFFFFF"/>
            </a:solidFill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802C3E2-BED1-4500-A319-120DD348031F}"/>
              </a:ext>
            </a:extLst>
          </p:cNvPr>
          <p:cNvSpPr>
            <a:spLocks noGrp="1"/>
          </p:cNvSpPr>
          <p:nvPr/>
        </p:nvSpPr>
        <p:spPr>
          <a:xfrm>
            <a:off x="8543925" y="1343025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289B046-448D-4B29-8023-C50183BD177E}"/>
              </a:ext>
            </a:extLst>
          </p:cNvPr>
          <p:cNvSpPr>
            <a:spLocks noGrp="1"/>
          </p:cNvSpPr>
          <p:nvPr/>
        </p:nvSpPr>
        <p:spPr>
          <a:xfrm>
            <a:off x="8953500" y="1285875"/>
            <a:ext cx="2667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 dirty="0" err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台中工業區</a:t>
            </a:r>
            <a:endParaRPr sz="1600" b="1" dirty="0">
              <a:solidFill>
                <a:srgbClr val="163F55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AA0CD92-B28F-4226-B761-6750D417DCB9}"/>
              </a:ext>
            </a:extLst>
          </p:cNvPr>
          <p:cNvSpPr>
            <a:spLocks noGrp="1"/>
          </p:cNvSpPr>
          <p:nvPr/>
        </p:nvSpPr>
        <p:spPr>
          <a:xfrm>
            <a:off x="8953500" y="1485900"/>
            <a:ext cx="2667000" cy="180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台中市西屯／南屯區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CF900FE-46A3-48E7-B2C9-823C38FEC3D3}"/>
              </a:ext>
            </a:extLst>
          </p:cNvPr>
          <p:cNvSpPr>
            <a:spLocks noGrp="1"/>
          </p:cNvSpPr>
          <p:nvPr/>
        </p:nvSpPr>
        <p:spPr>
          <a:xfrm>
            <a:off x="8953500" y="1657350"/>
            <a:ext cx="266700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大立光光通訊、CPO基地</a:t>
            </a: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169EC03C-4D73-4F74-ADEC-88F58708314A}"/>
              </a:ext>
            </a:extLst>
          </p:cNvPr>
          <p:cNvSpPr>
            <a:spLocks noGrp="1"/>
          </p:cNvSpPr>
          <p:nvPr/>
        </p:nvSpPr>
        <p:spPr>
          <a:xfrm>
            <a:off x="8572500" y="2057400"/>
            <a:ext cx="266700" cy="266700"/>
          </a:xfrm>
          <a:prstGeom prst="ellipse">
            <a:avLst/>
          </a:prstGeom>
          <a:solidFill>
            <a:srgbClr val="0E8798"/>
          </a:solidFill>
          <a:ln w="19050">
            <a:solidFill>
              <a:srgbClr val="FFFFFF"/>
            </a:solidFill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C8149D4-9BC9-43FF-B5BE-8B2D8D9898BD}"/>
              </a:ext>
            </a:extLst>
          </p:cNvPr>
          <p:cNvSpPr>
            <a:spLocks noGrp="1"/>
          </p:cNvSpPr>
          <p:nvPr/>
        </p:nvSpPr>
        <p:spPr>
          <a:xfrm>
            <a:off x="8543925" y="209550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DB2A98D-4FAB-4CE9-B547-F333FE20F18B}"/>
              </a:ext>
            </a:extLst>
          </p:cNvPr>
          <p:cNvSpPr>
            <a:spLocks noGrp="1"/>
          </p:cNvSpPr>
          <p:nvPr/>
        </p:nvSpPr>
        <p:spPr>
          <a:xfrm>
            <a:off x="8953500" y="2038350"/>
            <a:ext cx="2667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嘉義科學園區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703050C-08E8-470E-8283-4C8656625B89}"/>
              </a:ext>
            </a:extLst>
          </p:cNvPr>
          <p:cNvSpPr>
            <a:spLocks noGrp="1"/>
          </p:cNvSpPr>
          <p:nvPr/>
        </p:nvSpPr>
        <p:spPr>
          <a:xfrm>
            <a:off x="8953500" y="2238375"/>
            <a:ext cx="2667000" cy="180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嘉義縣太保市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E49D1DC-8DC3-4A80-A193-43C053201D3E}"/>
              </a:ext>
            </a:extLst>
          </p:cNvPr>
          <p:cNvSpPr>
            <a:spLocks noGrp="1"/>
          </p:cNvSpPr>
          <p:nvPr/>
        </p:nvSpPr>
        <p:spPr>
          <a:xfrm>
            <a:off x="8953500" y="2409825"/>
            <a:ext cx="266700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台積電 AP6／AP7</a:t>
            </a:r>
          </a:p>
        </p:txBody>
      </p:sp>
      <p:sp>
        <p:nvSpPr>
          <p:cNvPr id="45" name="橢圓 44">
            <a:extLst>
              <a:ext uri="{FF2B5EF4-FFF2-40B4-BE49-F238E27FC236}">
                <a16:creationId xmlns:a16="http://schemas.microsoft.com/office/drawing/2014/main" id="{07F35914-3754-4C22-BD8D-C4F6D82F6525}"/>
              </a:ext>
            </a:extLst>
          </p:cNvPr>
          <p:cNvSpPr>
            <a:spLocks noGrp="1"/>
          </p:cNvSpPr>
          <p:nvPr/>
        </p:nvSpPr>
        <p:spPr>
          <a:xfrm>
            <a:off x="8572500" y="2809875"/>
            <a:ext cx="266700" cy="266700"/>
          </a:xfrm>
          <a:prstGeom prst="ellipse">
            <a:avLst/>
          </a:prstGeom>
          <a:solidFill>
            <a:srgbClr val="0E8798"/>
          </a:solidFill>
          <a:ln w="19050">
            <a:solidFill>
              <a:srgbClr val="FFFFFF"/>
            </a:solidFill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8F7AB7F-0377-4112-AC13-DE1374FC080B}"/>
              </a:ext>
            </a:extLst>
          </p:cNvPr>
          <p:cNvSpPr>
            <a:spLocks noGrp="1"/>
          </p:cNvSpPr>
          <p:nvPr/>
        </p:nvSpPr>
        <p:spPr>
          <a:xfrm>
            <a:off x="8543925" y="2847975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FC37BAD-BF76-45C3-AFE4-081089C75D19}"/>
              </a:ext>
            </a:extLst>
          </p:cNvPr>
          <p:cNvSpPr>
            <a:spLocks noGrp="1"/>
          </p:cNvSpPr>
          <p:nvPr/>
        </p:nvSpPr>
        <p:spPr>
          <a:xfrm>
            <a:off x="8953500" y="2790825"/>
            <a:ext cx="2667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台南科學園區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EB19651-7560-4E2B-93A5-3D7304621116}"/>
              </a:ext>
            </a:extLst>
          </p:cNvPr>
          <p:cNvSpPr>
            <a:spLocks noGrp="1"/>
          </p:cNvSpPr>
          <p:nvPr/>
        </p:nvSpPr>
        <p:spPr>
          <a:xfrm>
            <a:off x="8953500" y="2990850"/>
            <a:ext cx="2667000" cy="180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台南市新市區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D1E4E691-A7AF-4638-8DEA-E310D0DDA06E}"/>
              </a:ext>
            </a:extLst>
          </p:cNvPr>
          <p:cNvSpPr>
            <a:spLocks noGrp="1"/>
          </p:cNvSpPr>
          <p:nvPr/>
        </p:nvSpPr>
        <p:spPr>
          <a:xfrm>
            <a:off x="8953500" y="3162300"/>
            <a:ext cx="266700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台積電與日月光擴建</a:t>
            </a:r>
          </a:p>
        </p:txBody>
      </p:sp>
      <p:sp>
        <p:nvSpPr>
          <p:cNvPr id="50" name="橢圓 49">
            <a:extLst>
              <a:ext uri="{FF2B5EF4-FFF2-40B4-BE49-F238E27FC236}">
                <a16:creationId xmlns:a16="http://schemas.microsoft.com/office/drawing/2014/main" id="{A401BF45-557C-4D16-BF1C-5A60B9C4C48B}"/>
              </a:ext>
            </a:extLst>
          </p:cNvPr>
          <p:cNvSpPr>
            <a:spLocks noGrp="1"/>
          </p:cNvSpPr>
          <p:nvPr/>
        </p:nvSpPr>
        <p:spPr>
          <a:xfrm>
            <a:off x="8572500" y="3562350"/>
            <a:ext cx="266700" cy="266700"/>
          </a:xfrm>
          <a:prstGeom prst="ellipse">
            <a:avLst/>
          </a:prstGeom>
          <a:solidFill>
            <a:srgbClr val="0E8798"/>
          </a:solidFill>
          <a:ln w="19050">
            <a:solidFill>
              <a:srgbClr val="FFFFFF"/>
            </a:solidFill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6858EF0B-A9BE-4C8D-BB8D-99CECBADF222}"/>
              </a:ext>
            </a:extLst>
          </p:cNvPr>
          <p:cNvSpPr>
            <a:spLocks noGrp="1"/>
          </p:cNvSpPr>
          <p:nvPr/>
        </p:nvSpPr>
        <p:spPr>
          <a:xfrm>
            <a:off x="8543925" y="3600450"/>
            <a:ext cx="323850" cy="18961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6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158AC4D4-D1AC-446C-8691-67BBF39CA794}"/>
              </a:ext>
            </a:extLst>
          </p:cNvPr>
          <p:cNvSpPr>
            <a:spLocks noGrp="1"/>
          </p:cNvSpPr>
          <p:nvPr/>
        </p:nvSpPr>
        <p:spPr>
          <a:xfrm>
            <a:off x="8953500" y="3543300"/>
            <a:ext cx="2667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楠梓產業園區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070A177-BDD8-4E31-977D-474AE6E37735}"/>
              </a:ext>
            </a:extLst>
          </p:cNvPr>
          <p:cNvSpPr>
            <a:spLocks noGrp="1"/>
          </p:cNvSpPr>
          <p:nvPr/>
        </p:nvSpPr>
        <p:spPr>
          <a:xfrm>
            <a:off x="8953500" y="3743325"/>
            <a:ext cx="2667000" cy="180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高雄市楠梓區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D676645-D533-4AC3-98EE-1B8B1E618A89}"/>
              </a:ext>
            </a:extLst>
          </p:cNvPr>
          <p:cNvSpPr>
            <a:spLocks noGrp="1"/>
          </p:cNvSpPr>
          <p:nvPr/>
        </p:nvSpPr>
        <p:spPr>
          <a:xfrm>
            <a:off x="8953500" y="3914775"/>
            <a:ext cx="266700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台積電高雄 P1 至 P3</a:t>
            </a: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973CB8C3-A8BD-435F-BEAE-C332CAF1E240}"/>
              </a:ext>
            </a:extLst>
          </p:cNvPr>
          <p:cNvSpPr>
            <a:spLocks noGrp="1"/>
          </p:cNvSpPr>
          <p:nvPr/>
        </p:nvSpPr>
        <p:spPr>
          <a:xfrm>
            <a:off x="8572500" y="4314825"/>
            <a:ext cx="266700" cy="266700"/>
          </a:xfrm>
          <a:prstGeom prst="ellipse">
            <a:avLst/>
          </a:prstGeom>
          <a:solidFill>
            <a:srgbClr val="E6A23C"/>
          </a:solidFill>
          <a:ln w="19050">
            <a:solidFill>
              <a:srgbClr val="FFFFFF"/>
            </a:solidFill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C6DDDBE-B59C-4807-B7A3-D79C70768D3D}"/>
              </a:ext>
            </a:extLst>
          </p:cNvPr>
          <p:cNvSpPr>
            <a:spLocks noGrp="1"/>
          </p:cNvSpPr>
          <p:nvPr/>
        </p:nvSpPr>
        <p:spPr>
          <a:xfrm>
            <a:off x="8543924" y="4352924"/>
            <a:ext cx="409575" cy="25318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6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B3585EF-27BA-4B93-BB46-0DE58F54792A}"/>
              </a:ext>
            </a:extLst>
          </p:cNvPr>
          <p:cNvSpPr>
            <a:spLocks noGrp="1"/>
          </p:cNvSpPr>
          <p:nvPr/>
        </p:nvSpPr>
        <p:spPr>
          <a:xfrm>
            <a:off x="8953500" y="4295775"/>
            <a:ext cx="2667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橋頭科學園區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18413148-D3C1-4F12-92BC-3CB2364CFAB9}"/>
              </a:ext>
            </a:extLst>
          </p:cNvPr>
          <p:cNvSpPr>
            <a:spLocks noGrp="1"/>
          </p:cNvSpPr>
          <p:nvPr/>
        </p:nvSpPr>
        <p:spPr>
          <a:xfrm>
            <a:off x="8953500" y="4495800"/>
            <a:ext cx="2667000" cy="180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高雄市橋頭區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DBFD908C-F01A-4148-B896-87712CF74667}"/>
              </a:ext>
            </a:extLst>
          </p:cNvPr>
          <p:cNvSpPr>
            <a:spLocks noGrp="1"/>
          </p:cNvSpPr>
          <p:nvPr/>
        </p:nvSpPr>
        <p:spPr>
          <a:xfrm>
            <a:off x="8953500" y="4667250"/>
            <a:ext cx="3028950" cy="28574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 dirty="0" err="1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台積電先進製程廠區，規劃中</a:t>
            </a:r>
            <a:endParaRPr sz="1600" b="0" dirty="0">
              <a:solidFill>
                <a:srgbClr val="294D6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B7A3F98C-4FA6-4ACD-9845-BD0B57C6C61A}"/>
              </a:ext>
            </a:extLst>
          </p:cNvPr>
          <p:cNvSpPr>
            <a:spLocks noGrp="1"/>
          </p:cNvSpPr>
          <p:nvPr/>
        </p:nvSpPr>
        <p:spPr>
          <a:xfrm>
            <a:off x="8572500" y="5067300"/>
            <a:ext cx="266700" cy="266700"/>
          </a:xfrm>
          <a:prstGeom prst="ellipse">
            <a:avLst/>
          </a:prstGeom>
          <a:solidFill>
            <a:srgbClr val="E6A23C"/>
          </a:solidFill>
          <a:ln w="19050">
            <a:solidFill>
              <a:srgbClr val="FFFFFF"/>
            </a:solidFill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888CBC1F-FDA6-4A95-B8A2-8E6A46EFA078}"/>
              </a:ext>
            </a:extLst>
          </p:cNvPr>
          <p:cNvSpPr>
            <a:spLocks noGrp="1"/>
          </p:cNvSpPr>
          <p:nvPr/>
        </p:nvSpPr>
        <p:spPr>
          <a:xfrm>
            <a:off x="8543925" y="510540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6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3493B16B-1391-42F1-A0C0-47FB59F14F81}"/>
              </a:ext>
            </a:extLst>
          </p:cNvPr>
          <p:cNvSpPr>
            <a:spLocks noGrp="1"/>
          </p:cNvSpPr>
          <p:nvPr/>
        </p:nvSpPr>
        <p:spPr>
          <a:xfrm>
            <a:off x="8953500" y="5048250"/>
            <a:ext cx="2667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屏東科技園區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325A86B5-6D2B-41F2-8FA2-3B2F267B6A8A}"/>
              </a:ext>
            </a:extLst>
          </p:cNvPr>
          <p:cNvSpPr>
            <a:spLocks noGrp="1"/>
          </p:cNvSpPr>
          <p:nvPr/>
        </p:nvSpPr>
        <p:spPr>
          <a:xfrm>
            <a:off x="8953500" y="5248275"/>
            <a:ext cx="2667000" cy="180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屏東縣長治鄉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1D961484-CC58-4CAD-81A8-FFDDFF1ADE45}"/>
              </a:ext>
            </a:extLst>
          </p:cNvPr>
          <p:cNvSpPr>
            <a:spLocks noGrp="1"/>
          </p:cNvSpPr>
          <p:nvPr/>
        </p:nvSpPr>
        <p:spPr>
          <a:xfrm>
            <a:off x="8953500" y="5419725"/>
            <a:ext cx="266700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半導體材料與設備供應鏈</a:t>
            </a:r>
          </a:p>
        </p:txBody>
      </p:sp>
      <p:sp>
        <p:nvSpPr>
          <p:cNvPr id="65" name="橢圓 64">
            <a:extLst>
              <a:ext uri="{FF2B5EF4-FFF2-40B4-BE49-F238E27FC236}">
                <a16:creationId xmlns:a16="http://schemas.microsoft.com/office/drawing/2014/main" id="{6C1417D8-EA27-4F08-84EE-F06E34B5DFFF}"/>
              </a:ext>
            </a:extLst>
          </p:cNvPr>
          <p:cNvSpPr>
            <a:spLocks noGrp="1"/>
          </p:cNvSpPr>
          <p:nvPr/>
        </p:nvSpPr>
        <p:spPr>
          <a:xfrm>
            <a:off x="6647742" y="1504978"/>
            <a:ext cx="247650" cy="247650"/>
          </a:xfrm>
          <a:prstGeom prst="ellipse">
            <a:avLst/>
          </a:prstGeom>
          <a:solidFill>
            <a:srgbClr val="E6A23C"/>
          </a:solidFill>
          <a:ln w="19050">
            <a:solidFill>
              <a:srgbClr val="FFFFFF"/>
            </a:solidFill>
          </a:ln>
        </p:spPr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617DD793-4929-4880-956F-ED7B89BB8D57}"/>
              </a:ext>
            </a:extLst>
          </p:cNvPr>
          <p:cNvSpPr>
            <a:spLocks noGrp="1"/>
          </p:cNvSpPr>
          <p:nvPr/>
        </p:nvSpPr>
        <p:spPr>
          <a:xfrm>
            <a:off x="6609642" y="1533553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 lnSpcReduction="10000"/>
          </a:bodyPr>
          <a:lstStyle/>
          <a:p>
            <a:pPr>
              <a:def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7" name="橢圓 66">
            <a:extLst>
              <a:ext uri="{FF2B5EF4-FFF2-40B4-BE49-F238E27FC236}">
                <a16:creationId xmlns:a16="http://schemas.microsoft.com/office/drawing/2014/main" id="{614FABE2-0B71-48CA-B372-F6F466EBABD0}"/>
              </a:ext>
            </a:extLst>
          </p:cNvPr>
          <p:cNvSpPr>
            <a:spLocks noGrp="1"/>
          </p:cNvSpPr>
          <p:nvPr/>
        </p:nvSpPr>
        <p:spPr>
          <a:xfrm>
            <a:off x="6251241" y="1811540"/>
            <a:ext cx="247650" cy="247650"/>
          </a:xfrm>
          <a:prstGeom prst="ellipse">
            <a:avLst/>
          </a:prstGeom>
          <a:solidFill>
            <a:srgbClr val="E6A23C"/>
          </a:solidFill>
          <a:ln w="19050">
            <a:solidFill>
              <a:srgbClr val="FFFFFF"/>
            </a:solidFill>
          </a:ln>
        </p:spPr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775B40D1-48AA-41D1-8546-F70F8C053608}"/>
              </a:ext>
            </a:extLst>
          </p:cNvPr>
          <p:cNvSpPr>
            <a:spLocks noGrp="1"/>
          </p:cNvSpPr>
          <p:nvPr/>
        </p:nvSpPr>
        <p:spPr>
          <a:xfrm>
            <a:off x="6213141" y="1840115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 lnSpcReduction="10000"/>
          </a:bodyPr>
          <a:lstStyle/>
          <a:p>
            <a:pPr>
              <a:def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69" name="橢圓 68">
            <a:extLst>
              <a:ext uri="{FF2B5EF4-FFF2-40B4-BE49-F238E27FC236}">
                <a16:creationId xmlns:a16="http://schemas.microsoft.com/office/drawing/2014/main" id="{5EB2CD94-CD56-48AA-8866-ADC9771153A9}"/>
              </a:ext>
            </a:extLst>
          </p:cNvPr>
          <p:cNvSpPr>
            <a:spLocks noGrp="1"/>
          </p:cNvSpPr>
          <p:nvPr/>
        </p:nvSpPr>
        <p:spPr>
          <a:xfrm>
            <a:off x="5997430" y="1990683"/>
            <a:ext cx="247650" cy="247650"/>
          </a:xfrm>
          <a:prstGeom prst="ellipse">
            <a:avLst/>
          </a:prstGeom>
          <a:solidFill>
            <a:srgbClr val="0E8798"/>
          </a:solidFill>
          <a:ln w="19050">
            <a:solidFill>
              <a:srgbClr val="FFFFFF"/>
            </a:solidFill>
          </a:ln>
        </p:spPr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AA032E3E-1414-42D7-BE46-0DF65F3403AB}"/>
              </a:ext>
            </a:extLst>
          </p:cNvPr>
          <p:cNvSpPr>
            <a:spLocks noGrp="1"/>
          </p:cNvSpPr>
          <p:nvPr/>
        </p:nvSpPr>
        <p:spPr>
          <a:xfrm>
            <a:off x="5959330" y="2019258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 lnSpcReduction="10000"/>
          </a:bodyPr>
          <a:lstStyle/>
          <a:p>
            <a:pPr>
              <a:def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71" name="橢圓 70">
            <a:extLst>
              <a:ext uri="{FF2B5EF4-FFF2-40B4-BE49-F238E27FC236}">
                <a16:creationId xmlns:a16="http://schemas.microsoft.com/office/drawing/2014/main" id="{71BF7A3D-08D2-4410-A69A-61EC2065D23B}"/>
              </a:ext>
            </a:extLst>
          </p:cNvPr>
          <p:cNvSpPr>
            <a:spLocks noGrp="1"/>
          </p:cNvSpPr>
          <p:nvPr/>
        </p:nvSpPr>
        <p:spPr>
          <a:xfrm>
            <a:off x="5738568" y="2324999"/>
            <a:ext cx="247650" cy="247650"/>
          </a:xfrm>
          <a:prstGeom prst="ellipse">
            <a:avLst/>
          </a:prstGeom>
          <a:solidFill>
            <a:srgbClr val="0E8798"/>
          </a:solidFill>
          <a:ln w="19050">
            <a:solidFill>
              <a:srgbClr val="FFFFFF"/>
            </a:solidFill>
          </a:ln>
        </p:spPr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12BB16D7-2515-47DD-8603-A76C78DB8F01}"/>
              </a:ext>
            </a:extLst>
          </p:cNvPr>
          <p:cNvSpPr>
            <a:spLocks noGrp="1"/>
          </p:cNvSpPr>
          <p:nvPr/>
        </p:nvSpPr>
        <p:spPr>
          <a:xfrm>
            <a:off x="5700468" y="2353574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 lnSpcReduction="10000"/>
          </a:bodyPr>
          <a:lstStyle/>
          <a:p>
            <a:pPr>
              <a:def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73" name="橢圓 72">
            <a:extLst>
              <a:ext uri="{FF2B5EF4-FFF2-40B4-BE49-F238E27FC236}">
                <a16:creationId xmlns:a16="http://schemas.microsoft.com/office/drawing/2014/main" id="{E6722617-9E14-4828-886F-96FD873578EB}"/>
              </a:ext>
            </a:extLst>
          </p:cNvPr>
          <p:cNvSpPr>
            <a:spLocks noGrp="1"/>
          </p:cNvSpPr>
          <p:nvPr/>
        </p:nvSpPr>
        <p:spPr>
          <a:xfrm>
            <a:off x="5650176" y="2514235"/>
            <a:ext cx="247650" cy="247650"/>
          </a:xfrm>
          <a:prstGeom prst="ellipse">
            <a:avLst/>
          </a:prstGeom>
          <a:solidFill>
            <a:srgbClr val="0E8798"/>
          </a:solidFill>
          <a:ln w="19050">
            <a:solidFill>
              <a:srgbClr val="FFFFFF"/>
            </a:solidFill>
          </a:ln>
        </p:spPr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3CC7812C-F789-470C-9C67-0511FB007478}"/>
              </a:ext>
            </a:extLst>
          </p:cNvPr>
          <p:cNvSpPr>
            <a:spLocks noGrp="1"/>
          </p:cNvSpPr>
          <p:nvPr/>
        </p:nvSpPr>
        <p:spPr>
          <a:xfrm>
            <a:off x="5612076" y="254281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 lnSpcReduction="10000"/>
          </a:bodyPr>
          <a:lstStyle/>
          <a:p>
            <a:pPr>
              <a:def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75" name="直線接點 74">
            <a:extLst>
              <a:ext uri="{FF2B5EF4-FFF2-40B4-BE49-F238E27FC236}">
                <a16:creationId xmlns:a16="http://schemas.microsoft.com/office/drawing/2014/main" id="{EC50CCDA-589A-4712-BD28-BD457E5ECAF0}"/>
              </a:ext>
            </a:extLst>
          </p:cNvPr>
          <p:cNvSpPr>
            <a:spLocks noGrp="1"/>
          </p:cNvSpPr>
          <p:nvPr/>
        </p:nvSpPr>
        <p:spPr>
          <a:xfrm>
            <a:off x="5514485" y="2693884"/>
            <a:ext cx="114300" cy="47625"/>
          </a:xfrm>
          <a:prstGeom prst="line">
            <a:avLst/>
          </a:prstGeom>
          <a:ln w="11430">
            <a:solidFill>
              <a:srgbClr val="7A98A5"/>
            </a:solidFill>
          </a:ln>
        </p:spPr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769686B2-5A76-481F-9CC2-3CB9D2C28150}"/>
              </a:ext>
            </a:extLst>
          </p:cNvPr>
          <p:cNvSpPr>
            <a:spLocks noGrp="1"/>
          </p:cNvSpPr>
          <p:nvPr/>
        </p:nvSpPr>
        <p:spPr>
          <a:xfrm>
            <a:off x="5390660" y="2570059"/>
            <a:ext cx="247650" cy="247650"/>
          </a:xfrm>
          <a:prstGeom prst="ellipse">
            <a:avLst/>
          </a:prstGeom>
          <a:solidFill>
            <a:srgbClr val="0E8798"/>
          </a:solidFill>
          <a:ln w="19050">
            <a:solidFill>
              <a:srgbClr val="FFFFFF"/>
            </a:solidFill>
          </a:ln>
        </p:spPr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8F2B9583-7270-4D17-B999-30C2DEFB2791}"/>
              </a:ext>
            </a:extLst>
          </p:cNvPr>
          <p:cNvSpPr>
            <a:spLocks noGrp="1"/>
          </p:cNvSpPr>
          <p:nvPr/>
        </p:nvSpPr>
        <p:spPr>
          <a:xfrm>
            <a:off x="5352560" y="2598634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 lnSpcReduction="10000"/>
          </a:bodyPr>
          <a:lstStyle/>
          <a:p>
            <a:pPr>
              <a:def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78" name="直線接點 77">
            <a:extLst>
              <a:ext uri="{FF2B5EF4-FFF2-40B4-BE49-F238E27FC236}">
                <a16:creationId xmlns:a16="http://schemas.microsoft.com/office/drawing/2014/main" id="{6D8096F6-B588-4FD2-8FC5-3F5D9917F346}"/>
              </a:ext>
            </a:extLst>
          </p:cNvPr>
          <p:cNvSpPr>
            <a:spLocks noGrp="1"/>
          </p:cNvSpPr>
          <p:nvPr/>
        </p:nvSpPr>
        <p:spPr>
          <a:xfrm>
            <a:off x="5660354" y="2839911"/>
            <a:ext cx="95250" cy="114300"/>
          </a:xfrm>
          <a:prstGeom prst="line">
            <a:avLst/>
          </a:prstGeom>
          <a:ln w="11430">
            <a:solidFill>
              <a:srgbClr val="7A98A5"/>
            </a:solidFill>
          </a:ln>
        </p:spPr>
      </p:sp>
      <p:sp>
        <p:nvSpPr>
          <p:cNvPr id="79" name="橢圓 78">
            <a:extLst>
              <a:ext uri="{FF2B5EF4-FFF2-40B4-BE49-F238E27FC236}">
                <a16:creationId xmlns:a16="http://schemas.microsoft.com/office/drawing/2014/main" id="{79E6ED63-43B5-4A97-AE2A-9CB340B607F3}"/>
              </a:ext>
            </a:extLst>
          </p:cNvPr>
          <p:cNvSpPr>
            <a:spLocks noGrp="1"/>
          </p:cNvSpPr>
          <p:nvPr/>
        </p:nvSpPr>
        <p:spPr>
          <a:xfrm>
            <a:off x="5631779" y="2830386"/>
            <a:ext cx="247650" cy="247650"/>
          </a:xfrm>
          <a:prstGeom prst="ellipse">
            <a:avLst/>
          </a:prstGeom>
          <a:solidFill>
            <a:srgbClr val="0E8798"/>
          </a:solidFill>
          <a:ln w="19050">
            <a:solidFill>
              <a:srgbClr val="FFFFFF"/>
            </a:solidFill>
          </a:ln>
        </p:spPr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7FEA453B-8C17-495E-A76D-46DAD9CF4964}"/>
              </a:ext>
            </a:extLst>
          </p:cNvPr>
          <p:cNvSpPr>
            <a:spLocks noGrp="1"/>
          </p:cNvSpPr>
          <p:nvPr/>
        </p:nvSpPr>
        <p:spPr>
          <a:xfrm>
            <a:off x="5593679" y="2858961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 lnSpcReduction="10000"/>
          </a:bodyPr>
          <a:lstStyle/>
          <a:p>
            <a:pPr>
              <a:def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81" name="橢圓 80">
            <a:extLst>
              <a:ext uri="{FF2B5EF4-FFF2-40B4-BE49-F238E27FC236}">
                <a16:creationId xmlns:a16="http://schemas.microsoft.com/office/drawing/2014/main" id="{F24B0175-929A-4E02-BF18-55F3D5F27467}"/>
              </a:ext>
            </a:extLst>
          </p:cNvPr>
          <p:cNvSpPr>
            <a:spLocks noGrp="1"/>
          </p:cNvSpPr>
          <p:nvPr/>
        </p:nvSpPr>
        <p:spPr>
          <a:xfrm>
            <a:off x="5152655" y="3542415"/>
            <a:ext cx="247650" cy="247650"/>
          </a:xfrm>
          <a:prstGeom prst="ellipse">
            <a:avLst/>
          </a:prstGeom>
          <a:solidFill>
            <a:srgbClr val="0E8798"/>
          </a:solidFill>
          <a:ln w="19050">
            <a:solidFill>
              <a:srgbClr val="FFFFFF"/>
            </a:solidFill>
          </a:ln>
        </p:spPr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CE3877F1-44E2-4674-A197-A5E4EE090D0A}"/>
              </a:ext>
            </a:extLst>
          </p:cNvPr>
          <p:cNvSpPr>
            <a:spLocks noGrp="1"/>
          </p:cNvSpPr>
          <p:nvPr/>
        </p:nvSpPr>
        <p:spPr>
          <a:xfrm>
            <a:off x="5114555" y="357099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 lnSpcReduction="10000"/>
          </a:bodyPr>
          <a:lstStyle/>
          <a:p>
            <a:pPr>
              <a:def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83" name="橢圓 82">
            <a:extLst>
              <a:ext uri="{FF2B5EF4-FFF2-40B4-BE49-F238E27FC236}">
                <a16:creationId xmlns:a16="http://schemas.microsoft.com/office/drawing/2014/main" id="{68473169-E171-429E-B86A-9200ECF4A984}"/>
              </a:ext>
            </a:extLst>
          </p:cNvPr>
          <p:cNvSpPr>
            <a:spLocks noGrp="1"/>
          </p:cNvSpPr>
          <p:nvPr/>
        </p:nvSpPr>
        <p:spPr>
          <a:xfrm>
            <a:off x="5097094" y="4031904"/>
            <a:ext cx="247650" cy="247650"/>
          </a:xfrm>
          <a:prstGeom prst="ellipse">
            <a:avLst/>
          </a:prstGeom>
          <a:solidFill>
            <a:srgbClr val="0E8798"/>
          </a:solidFill>
          <a:ln w="19050">
            <a:solidFill>
              <a:srgbClr val="FFFFFF"/>
            </a:solidFill>
          </a:ln>
        </p:spPr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B18C84E6-FEB9-4445-BDFC-9BDBC786758A}"/>
              </a:ext>
            </a:extLst>
          </p:cNvPr>
          <p:cNvSpPr>
            <a:spLocks noGrp="1"/>
          </p:cNvSpPr>
          <p:nvPr/>
        </p:nvSpPr>
        <p:spPr>
          <a:xfrm>
            <a:off x="5058994" y="4060479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788" lnSpcReduction="10000"/>
          </a:bodyPr>
          <a:lstStyle/>
          <a:p>
            <a:pPr>
              <a:def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  <p:sp>
        <p:nvSpPr>
          <p:cNvPr id="85" name="直線接點 84">
            <a:extLst>
              <a:ext uri="{FF2B5EF4-FFF2-40B4-BE49-F238E27FC236}">
                <a16:creationId xmlns:a16="http://schemas.microsoft.com/office/drawing/2014/main" id="{A771ABB0-201B-49C7-8F4A-B39EC06246F6}"/>
              </a:ext>
            </a:extLst>
          </p:cNvPr>
          <p:cNvSpPr>
            <a:spLocks noGrp="1"/>
          </p:cNvSpPr>
          <p:nvPr/>
        </p:nvSpPr>
        <p:spPr>
          <a:xfrm>
            <a:off x="5171128" y="4638911"/>
            <a:ext cx="95250" cy="114300"/>
          </a:xfrm>
          <a:prstGeom prst="line">
            <a:avLst/>
          </a:prstGeom>
          <a:ln w="11430">
            <a:solidFill>
              <a:srgbClr val="7A98A5"/>
            </a:solidFill>
          </a:ln>
        </p:spPr>
      </p:sp>
      <p:sp>
        <p:nvSpPr>
          <p:cNvPr id="86" name="橢圓 85">
            <a:extLst>
              <a:ext uri="{FF2B5EF4-FFF2-40B4-BE49-F238E27FC236}">
                <a16:creationId xmlns:a16="http://schemas.microsoft.com/office/drawing/2014/main" id="{0BE19C54-E6D1-4802-83D3-282E3C68307C}"/>
              </a:ext>
            </a:extLst>
          </p:cNvPr>
          <p:cNvSpPr>
            <a:spLocks noGrp="1"/>
          </p:cNvSpPr>
          <p:nvPr/>
        </p:nvSpPr>
        <p:spPr>
          <a:xfrm>
            <a:off x="5047303" y="4629386"/>
            <a:ext cx="247650" cy="247650"/>
          </a:xfrm>
          <a:prstGeom prst="ellipse">
            <a:avLst/>
          </a:prstGeom>
          <a:solidFill>
            <a:srgbClr val="0E8798"/>
          </a:solidFill>
          <a:ln w="19050">
            <a:solidFill>
              <a:srgbClr val="FFFFFF"/>
            </a:solidFill>
          </a:ln>
        </p:spPr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2A1839ED-A0FF-46BE-B3E0-2ED67F0CCEE2}"/>
              </a:ext>
            </a:extLst>
          </p:cNvPr>
          <p:cNvSpPr>
            <a:spLocks noGrp="1"/>
          </p:cNvSpPr>
          <p:nvPr/>
        </p:nvSpPr>
        <p:spPr>
          <a:xfrm>
            <a:off x="5009203" y="4657961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638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38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88" name="直線接點 87">
            <a:extLst>
              <a:ext uri="{FF2B5EF4-FFF2-40B4-BE49-F238E27FC236}">
                <a16:creationId xmlns:a16="http://schemas.microsoft.com/office/drawing/2014/main" id="{823AC830-A7BF-4273-9E1D-BF0B1B101CF0}"/>
              </a:ext>
            </a:extLst>
          </p:cNvPr>
          <p:cNvSpPr>
            <a:spLocks noGrp="1"/>
          </p:cNvSpPr>
          <p:nvPr/>
        </p:nvSpPr>
        <p:spPr>
          <a:xfrm>
            <a:off x="5260064" y="4491810"/>
            <a:ext cx="95250" cy="114300"/>
          </a:xfrm>
          <a:prstGeom prst="line">
            <a:avLst/>
          </a:prstGeom>
          <a:ln w="11430">
            <a:solidFill>
              <a:srgbClr val="7A98A5"/>
            </a:solidFill>
          </a:ln>
        </p:spPr>
      </p:sp>
      <p:sp>
        <p:nvSpPr>
          <p:cNvPr id="89" name="橢圓 88">
            <a:extLst>
              <a:ext uri="{FF2B5EF4-FFF2-40B4-BE49-F238E27FC236}">
                <a16:creationId xmlns:a16="http://schemas.microsoft.com/office/drawing/2014/main" id="{99CA013F-2713-44E6-97FD-146D986F61E2}"/>
              </a:ext>
            </a:extLst>
          </p:cNvPr>
          <p:cNvSpPr>
            <a:spLocks noGrp="1"/>
          </p:cNvSpPr>
          <p:nvPr/>
        </p:nvSpPr>
        <p:spPr>
          <a:xfrm>
            <a:off x="5231489" y="4367985"/>
            <a:ext cx="247650" cy="247650"/>
          </a:xfrm>
          <a:prstGeom prst="ellipse">
            <a:avLst/>
          </a:prstGeom>
          <a:solidFill>
            <a:srgbClr val="E6A23C"/>
          </a:solidFill>
          <a:ln w="19050">
            <a:solidFill>
              <a:srgbClr val="FFFFFF"/>
            </a:solidFill>
          </a:ln>
        </p:spPr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BF59D299-8383-4618-9D80-4E04BEDE69FB}"/>
              </a:ext>
            </a:extLst>
          </p:cNvPr>
          <p:cNvSpPr>
            <a:spLocks noGrp="1"/>
          </p:cNvSpPr>
          <p:nvPr/>
        </p:nvSpPr>
        <p:spPr>
          <a:xfrm>
            <a:off x="5193389" y="439656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638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38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91" name="橢圓 90">
            <a:extLst>
              <a:ext uri="{FF2B5EF4-FFF2-40B4-BE49-F238E27FC236}">
                <a16:creationId xmlns:a16="http://schemas.microsoft.com/office/drawing/2014/main" id="{6FEB1397-ED5F-4230-868C-5351B9B3DC71}"/>
              </a:ext>
            </a:extLst>
          </p:cNvPr>
          <p:cNvSpPr>
            <a:spLocks noGrp="1"/>
          </p:cNvSpPr>
          <p:nvPr/>
        </p:nvSpPr>
        <p:spPr>
          <a:xfrm>
            <a:off x="5422882" y="4545363"/>
            <a:ext cx="247650" cy="247650"/>
          </a:xfrm>
          <a:prstGeom prst="ellipse">
            <a:avLst/>
          </a:prstGeom>
          <a:solidFill>
            <a:srgbClr val="E6A23C"/>
          </a:solidFill>
          <a:ln w="19050">
            <a:solidFill>
              <a:srgbClr val="FFFFFF"/>
            </a:solidFill>
          </a:ln>
        </p:spPr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CF6E282E-919E-4860-9260-4057898E2BA6}"/>
              </a:ext>
            </a:extLst>
          </p:cNvPr>
          <p:cNvSpPr>
            <a:spLocks noGrp="1"/>
          </p:cNvSpPr>
          <p:nvPr/>
        </p:nvSpPr>
        <p:spPr>
          <a:xfrm>
            <a:off x="5384782" y="4573938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638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38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F5BFAA5E-6880-4C6B-9F4E-BC3BD9FA511D}"/>
              </a:ext>
            </a:extLst>
          </p:cNvPr>
          <p:cNvSpPr>
            <a:spLocks noGrp="1"/>
          </p:cNvSpPr>
          <p:nvPr/>
        </p:nvSpPr>
        <p:spPr>
          <a:xfrm>
            <a:off x="571500" y="6191250"/>
            <a:ext cx="6191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623" lnSpcReduction="10000"/>
          </a:bodyPr>
          <a:lstStyle/>
          <a:p>
            <a:pPr>
              <a:defRPr sz="938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● 施工、已動工或土地取得      ● 規劃中或待官方確認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1FC2BEF3-8AC2-464C-840C-732CB7A8987E}"/>
              </a:ext>
            </a:extLst>
          </p:cNvPr>
          <p:cNvSpPr>
            <a:spLocks noGrp="1"/>
          </p:cNvSpPr>
          <p:nvPr/>
        </p:nvSpPr>
        <p:spPr>
          <a:xfrm>
            <a:off x="7239000" y="6191250"/>
            <a:ext cx="4381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>
              <a:defRPr sz="900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位置為園區／建案定位，資料截至2026年9月7日</a:t>
            </a:r>
          </a:p>
        </p:txBody>
      </p:sp>
    </p:spTree>
    <p:extLst>
      <p:ext uri="{BB962C8B-B14F-4D97-AF65-F5344CB8AC3E}">
        <p14:creationId xmlns:p14="http://schemas.microsoft.com/office/powerpoint/2010/main" val="618116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C4134C44-B20F-4BC2-8A23-069B03325533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110871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118"/>
          </a:bodyPr>
          <a:lstStyle/>
          <a:p>
            <a:pPr>
              <a:defRPr sz="2550" b="1">
                <a:solidFill>
                  <a:srgbClr val="10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2A3A"/>
                </a:solidFill>
                <a:latin typeface="Microsoft JhengHei"/>
                <a:ea typeface="Microsoft JhengHei"/>
                <a:cs typeface="Microsoft JhengHei"/>
              </a:rPr>
              <a:t>重大科技廠房建案明細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F06627E-2838-4AFD-95DA-BF269B71EE73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857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defRPr sz="1200" b="0">
                <a:solidFill>
                  <a:srgbClr val="526D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26D7C"/>
                </a:solidFill>
                <a:latin typeface="Microsoft JhengHei"/>
                <a:ea typeface="Microsoft JhengHei"/>
                <a:cs typeface="Microsoft JhengHei"/>
              </a:rPr>
              <a:t>科學園區與重要科技產業聚落，依目前公開資訊整理</a:t>
            </a:r>
          </a:p>
        </p:txBody>
      </p:sp>
      <p:graphicFrame>
        <p:nvGraphicFramePr>
          <p:cNvPr id="7" name="表格 6"/>
          <p:cNvGraphicFramePr/>
          <p:nvPr/>
        </p:nvGraphicFramePr>
        <p:xfrm>
          <a:off x="457200" y="704850"/>
          <a:ext cx="11163300" cy="5911213"/>
        </p:xfrm>
        <a:graphic>
          <a:graphicData uri="http://schemas.openxmlformats.org/drawingml/2006/table">
            <a:tbl>
              <a:tblPr/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7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589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區域／園區</a:t>
                      </a:r>
                    </a:p>
                  </a:txBody>
                  <a:tcPr marL="66675" marR="66675" marT="38100" marB="38100">
                    <a:solidFill>
                      <a:srgbClr val="1238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公司</a:t>
                      </a:r>
                    </a:p>
                  </a:txBody>
                  <a:tcPr marL="66675" marR="66675" marT="38100" marB="38100">
                    <a:solidFill>
                      <a:srgbClr val="1238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 dirty="0" err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重大廠房／建案</a:t>
                      </a:r>
                      <a:endParaRPr sz="1125" b="1" dirty="0">
                        <a:solidFill>
                          <a:srgbClr val="FFFFFF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66675" marR="66675" marT="38100" marB="38100">
                    <a:solidFill>
                      <a:srgbClr val="1238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狀態</a:t>
                      </a:r>
                    </a:p>
                  </a:txBody>
                  <a:tcPr marL="66675" marR="66675" marT="38100" marB="38100">
                    <a:solidFill>
                      <a:srgbClr val="1238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公開規模</a:t>
                      </a:r>
                    </a:p>
                  </a:txBody>
                  <a:tcPr marL="66675" marR="66675" marT="38100" marB="38100">
                    <a:solidFill>
                      <a:srgbClr val="1238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資料備註</a:t>
                      </a:r>
                    </a:p>
                  </a:txBody>
                  <a:tcPr marL="66675" marR="66675" marT="38100" marB="38100">
                    <a:solidFill>
                      <a:srgbClr val="1238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589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北士科</a:t>
                      </a:r>
                      <a:endParaRPr sz="1400" b="1" dirty="0">
                        <a:solidFill>
                          <a:srgbClr val="173344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NVIDIA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AI研發中心 T17／T18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規劃中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待查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地上權案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589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龍潭科學園區</a:t>
                      </a:r>
                      <a:endParaRPr sz="1400" b="1" dirty="0">
                        <a:solidFill>
                          <a:srgbClr val="173344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</a:t>
                      </a: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龍潭新廠區</a:t>
                      </a: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875B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規劃中</a:t>
                      </a:r>
                    </a:p>
                  </a:txBody>
                  <a:tcPr marL="57150" marR="57150" marT="28575" marB="28575"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待查</a:t>
                      </a: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待官方確認</a:t>
                      </a: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589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竹科寶山二期</a:t>
                      </a:r>
                      <a:endParaRPr sz="1400" b="1" dirty="0">
                        <a:solidFill>
                          <a:srgbClr val="173344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</a:t>
                      </a:r>
                      <a:endParaRPr sz="1400" b="1" dirty="0">
                        <a:solidFill>
                          <a:srgbClr val="173344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寶山2奈米晶圓廠 P8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64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施工中</a:t>
                      </a:r>
                    </a:p>
                  </a:txBody>
                  <a:tcPr marL="57150" marR="57150" marT="28575" marB="28575">
                    <a:solidFill>
                      <a:srgbClr val="DD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土地15,000坪</a:t>
                      </a:r>
                    </a:p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樓地板70,000坪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2奈米主力廠區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589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新竹／台南科學園區</a:t>
                      </a:r>
                      <a:endParaRPr sz="1400" b="1" dirty="0">
                        <a:solidFill>
                          <a:srgbClr val="173344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聯電</a:t>
                      </a: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新竹晶圓廠群、台南12吋廠</a:t>
                      </a: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營運／擴建</a:t>
                      </a: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待查</a:t>
                      </a: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待拆分具名建案</a:t>
                      </a: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589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中科二期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台中1.4奈米晶圓廠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1764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已動工</a:t>
                      </a:r>
                      <a:endParaRPr sz="1400" b="1" dirty="0">
                        <a:solidFill>
                          <a:srgbClr val="17643F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7150" marR="57150" marT="28575" marB="28575">
                    <a:solidFill>
                      <a:srgbClr val="DD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土地27,000坪</a:t>
                      </a:r>
                    </a:p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樓地板80,000坪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已取得第一期建照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589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中部科學園區</a:t>
                      </a: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美光</a:t>
                      </a: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台中A3廠區擴建</a:t>
                      </a: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1764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施工中</a:t>
                      </a:r>
                      <a:endParaRPr sz="1400" b="1" dirty="0">
                        <a:solidFill>
                          <a:srgbClr val="17643F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7150" marR="57150" marT="28575" marB="28575">
                    <a:solidFill>
                      <a:srgbClr val="DD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待查</a:t>
                      </a: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記憶體擴產</a:t>
                      </a: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589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銅鑼科學園區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美光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美光銅鑼廠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改造中</a:t>
                      </a:r>
                      <a:endParaRPr sz="1400" b="1" dirty="0">
                        <a:solidFill>
                          <a:srgbClr val="173344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樓地板60,000坪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原力積電廠區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589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台中工業區</a:t>
                      </a:r>
                    </a:p>
                  </a:txBody>
                  <a:tcPr marL="57150" marR="57150" marT="28575" marB="28575">
                    <a:solidFill>
                      <a:srgbClr val="D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大立光</a:t>
                      </a:r>
                    </a:p>
                  </a:txBody>
                  <a:tcPr marL="57150" marR="57150" marT="28575" marB="28575">
                    <a:solidFill>
                      <a:srgbClr val="D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光通訊／CPO產能基地</a:t>
                      </a:r>
                    </a:p>
                  </a:txBody>
                  <a:tcPr marL="57150" marR="57150" marT="28575" marB="28575">
                    <a:solidFill>
                      <a:srgbClr val="D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土地取得</a:t>
                      </a:r>
                      <a:endParaRPr sz="1400" b="1" dirty="0">
                        <a:solidFill>
                          <a:srgbClr val="173344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7150" marR="57150" marT="28575" marB="28575">
                    <a:solidFill>
                      <a:srgbClr val="D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土地13,500坪</a:t>
                      </a:r>
                    </a:p>
                    <a:p>
                      <a:r>
                        <a:rPr sz="1400" b="1" dirty="0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建物13,000坪</a:t>
                      </a:r>
                    </a:p>
                  </a:txBody>
                  <a:tcPr marL="57150" marR="57150" marT="28575" marB="28575">
                    <a:solidFill>
                      <a:srgbClr val="D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後續動工待追蹤</a:t>
                      </a:r>
                    </a:p>
                  </a:txBody>
                  <a:tcPr marL="57150" marR="57150" marT="28575" marB="28575">
                    <a:solidFill>
                      <a:srgbClr val="DF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589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嘉義科學園區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AP6／AP7先進封裝廠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64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施工中</a:t>
                      </a:r>
                    </a:p>
                  </a:txBody>
                  <a:tcPr marL="57150" marR="57150" marT="28575" marB="28575">
                    <a:solidFill>
                      <a:srgbClr val="DD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土地12,000坪</a:t>
                      </a:r>
                    </a:p>
                    <a:p>
                      <a:r>
                        <a:rPr sz="1400" b="1" dirty="0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樓地板60,000坪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CoWoS／SoIC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589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台南科學園區</a:t>
                      </a: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台積電／日月光</a:t>
                      </a: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製程與封裝擴建／南科封裝基地</a:t>
                      </a: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64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施工／已動工</a:t>
                      </a:r>
                    </a:p>
                  </a:txBody>
                  <a:tcPr marL="57150" marR="57150" marT="28575" marB="28575">
                    <a:solidFill>
                      <a:srgbClr val="DD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台積電樓地板80,000坪</a:t>
                      </a:r>
                    </a:p>
                    <a:p>
                      <a:r>
                        <a:rPr sz="1400" b="1" dirty="0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日月光35,000坪</a:t>
                      </a: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供應鏈同步擴建</a:t>
                      </a: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589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楠梓產業園區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高雄2奈米廠 P1至P3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64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施工中</a:t>
                      </a:r>
                    </a:p>
                  </a:txBody>
                  <a:tcPr marL="57150" marR="57150" marT="28575" marB="28575">
                    <a:solidFill>
                      <a:srgbClr val="DD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土地36,000坪</a:t>
                      </a:r>
                    </a:p>
                    <a:p>
                      <a:r>
                        <a:rPr sz="1400" b="1" dirty="0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樓地板100,000坪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三期建設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0589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橋頭科學園區</a:t>
                      </a: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</a:t>
                      </a: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橋頭先進製程廠區</a:t>
                      </a: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875B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規劃中</a:t>
                      </a:r>
                    </a:p>
                  </a:txBody>
                  <a:tcPr marL="57150" marR="57150" marT="28575" marB="28575"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土地約15,000坪</a:t>
                      </a: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待官方確認</a:t>
                      </a:r>
                      <a:endParaRPr sz="1400" b="1" dirty="0">
                        <a:solidFill>
                          <a:srgbClr val="173344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0589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高雄科技聚落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鴻海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高雄AI資料中心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64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已動工</a:t>
                      </a:r>
                    </a:p>
                  </a:txBody>
                  <a:tcPr marL="57150" marR="57150" marT="28575" marB="28575">
                    <a:solidFill>
                      <a:srgbClr val="DD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待查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AI基礎設施</a:t>
                      </a:r>
                      <a:endParaRPr sz="1400" b="1" dirty="0">
                        <a:solidFill>
                          <a:srgbClr val="173344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B026F420-88AB-4040-B2BC-4F05D91B7561}"/>
              </a:ext>
            </a:extLst>
          </p:cNvPr>
          <p:cNvSpPr>
            <a:spLocks noGrp="1"/>
          </p:cNvSpPr>
          <p:nvPr/>
        </p:nvSpPr>
        <p:spPr>
          <a:xfrm>
            <a:off x="495300" y="6606538"/>
            <a:ext cx="11144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900" b="0">
                <a:solidFill>
                  <a:srgbClr val="607B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07B8A"/>
                </a:solidFill>
                <a:latin typeface="Microsoft JhengHei"/>
                <a:ea typeface="Microsoft JhengHei"/>
                <a:cs typeface="Microsoft JhengHei"/>
              </a:rPr>
              <a:t>資料截至2026年9月7日；未公開坪數保留待查；規劃案以官方公告為準</a:t>
            </a:r>
          </a:p>
        </p:txBody>
      </p:sp>
    </p:spTree>
    <p:extLst>
      <p:ext uri="{BB962C8B-B14F-4D97-AF65-F5344CB8AC3E}">
        <p14:creationId xmlns:p14="http://schemas.microsoft.com/office/powerpoint/2010/main" val="7461132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358</Words>
  <Application>Microsoft Office PowerPoint</Application>
  <DocSecurity>0</DocSecurity>
  <PresentationFormat>寬螢幕</PresentationFormat>
  <Paragraphs>158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5" baseType="lpstr">
      <vt:lpstr>Microsoft JhengHei</vt:lpstr>
      <vt:lpstr>Calibri</vt:lpstr>
      <vt:lpstr>ChatGPT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劉建邦襄理</cp:lastModifiedBy>
  <cp:revision>1</cp:revision>
  <dcterms:created xsi:type="dcterms:W3CDTF">2026-09-07T09:45:18Z</dcterms:created>
  <dcterms:modified xsi:type="dcterms:W3CDTF">2026-09-07T09:50:24Z</dcterms:modified>
</cp:coreProperties>
</file>